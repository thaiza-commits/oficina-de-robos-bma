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charts/chart1.xml" ContentType="application/vnd.openxmlformats-officedocument.drawingml.chart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core-properties" Target="docProps/core.xml"/><Relationship Id="rId3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15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20"/>
  </p:sld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F37522"/>
    <a:srgbClr val="F8772E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15611"/>
    <p:restoredTop sz="94610"/>
  </p:normalViewPr>
  <p:slideViewPr>
    <p:cSldViewPr snapToGrid="0" snapToObjects="1">
      <p:cViewPr varScale="1">
        <p:scale>
          <a:sx n="71" d="100"/>
          <a:sy n="71" d="100"/>
        </p:scale>
        <p:origin x="672" y="6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notesMaster" Target="notesMasters/notesMaster1.xml"/><Relationship Id="rId16" Type="http://schemas.openxmlformats.org/officeDocument/2006/relationships/presProps" Target="presProps.xml"/><Relationship Id="rId17" Type="http://schemas.openxmlformats.org/officeDocument/2006/relationships/viewProps" Target="viewProps.xml"/><Relationship Id="rId18" Type="http://schemas.openxmlformats.org/officeDocument/2006/relationships/theme" Target="theme/theme1.xml"/><Relationship Id="rId19" Type="http://schemas.openxmlformats.org/officeDocument/2006/relationships/tableStyles" Target="tableStyles.xml"/><Relationship Id="rId20" Type="http://schemas.openxmlformats.org/officeDocument/2006/relationships/slide" Target="slides/slide14.xml"/></Relationships>
</file>

<file path=ppt/charts/_rels/chart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Worksheet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GB"/>
  <c:roundedCorners val="1"/>
  <c:style val="2"/>
  <c:chart>
    <c:autoTitleDeleted val="1"/>
    <c:plotArea>
      <c:layout/>
      <c:line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Selic</c:v>
                </c:pt>
              </c:strCache>
            </c:strRef>
          </c:tx>
          <c:spPr>
            <a:ln w="38100" cap="flat">
              <a:solidFill>
                <a:srgbClr val="1D4ED8"/>
              </a:solidFill>
              <a:prstDash val="solid"/>
              <a:round/>
            </a:ln>
            <a:effectLst/>
          </c:spPr>
          <c:marker>
            <c:symbol val="circle"/>
            <c:size val="6"/>
            <c:spPr>
              <a:solidFill>
                <a:srgbClr val="1D4ED8"/>
              </a:solidFill>
              <a:ln w="9525" cap="flat">
                <a:solidFill>
                  <a:srgbClr val="1D4ED8"/>
                </a:solidFill>
                <a:prstDash val="solid"/>
                <a:round/>
              </a:ln>
              <a:effectLst/>
            </c:spPr>
          </c:marker>
          <c:cat>
            <c:strRef>
              <c:f>Sheet1!$A$2:$A$7</c:f>
              <c:strCache>
                <c:ptCount val="6"/>
                <c:pt idx="0">
                  <c:v>21/05</c:v>
                </c:pt>
                <c:pt idx="1">
                  <c:v>27/05</c:v>
                </c:pt>
                <c:pt idx="2">
                  <c:v>02/06</c:v>
                </c:pt>
                <c:pt idx="3">
                  <c:v>06/06</c:v>
                </c:pt>
                <c:pt idx="4">
                  <c:v>12/06</c:v>
                </c:pt>
                <c:pt idx="5">
                  <c:v>18/06</c:v>
                </c:pt>
              </c:strCache>
            </c:strRef>
          </c:cat>
          <c:val>
            <c:numRef>
              <c:f>Sheet1!$B$2:$B$7</c:f>
              <c:numCache>
                <c:formatCode>General</c:formatCode>
                <c:ptCount val="6"/>
                <c:pt idx="0">
                  <c:v>14.5</c:v>
                </c:pt>
                <c:pt idx="1">
                  <c:v>14.5</c:v>
                </c:pt>
                <c:pt idx="2">
                  <c:v>14.55</c:v>
                </c:pt>
                <c:pt idx="3">
                  <c:v>14.75</c:v>
                </c:pt>
                <c:pt idx="4">
                  <c:v>14.75</c:v>
                </c:pt>
                <c:pt idx="5">
                  <c:v>14.75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0-5018-44CE-96A4-4089920F90F8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marker val="1"/>
        <c:smooth val="0"/>
        <c:axId val="2094734554"/>
        <c:axId val="2094734552"/>
      </c:line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55607A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lblOffset val="100"/>
        <c:noMultiLvlLbl val="1"/>
      </c:catAx>
      <c:valAx>
        <c:axId val="2094734552"/>
        <c:scaling>
          <c:orientation val="minMax"/>
          <c:max val="15"/>
          <c:min val="14"/>
        </c:scaling>
        <c:delete val="0"/>
        <c:axPos val="l"/>
        <c:majorGridlines>
          <c:spPr>
            <a:ln w="12700" cap="flat">
              <a:solidFill>
                <a:srgbClr val="888888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55607A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  <c:showDLblsOverMax val="1"/>
  </c:chart>
  <c:spPr>
    <a:noFill/>
    <a:ln>
      <a:noFill/>
    </a:ln>
    <a:effectLst/>
  </c:spPr>
  <c:externalData r:id="rId1">
    <c:autoUpdate val="0"/>
  </c:externalData>
</c:chartSpace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1792599654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Relationship Id="rId3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Relationship Id="rId3" Type="http://schemas.openxmlformats.org/officeDocument/2006/relationships/image" Target="../media/image2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1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2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1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2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1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2.png"/><Relationship Id="rId4" Type="http://schemas.openxmlformats.org/officeDocument/2006/relationships/chart" Target="../charts/chart1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Relationship Id="rId3" Type="http://schemas.openxmlformats.org/officeDocument/2006/relationships/image" Target="../media/image1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2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Relationship Id="rId3" Type="http://schemas.openxmlformats.org/officeDocument/2006/relationships/image" Target="../media/image1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2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1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3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B1D3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02920" y="384048"/>
            <a:ext cx="1234440" cy="585216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0" y="0"/>
            <a:ext cx="146304" cy="6858000"/>
          </a:xfrm>
          <a:prstGeom prst="rect">
            <a:avLst/>
          </a:prstGeom>
          <a:solidFill>
            <a:srgbClr val="F28C2B"/>
          </a:solidFill>
          <a:ln/>
        </p:spPr>
        <p:txBody>
          <a:bodyPr/>
          <a:lstStyle/>
          <a:p>
            <a:endParaRPr lang="pt-BR"/>
          </a:p>
        </p:txBody>
      </p:sp>
      <p:sp>
        <p:nvSpPr>
          <p:cNvPr id="4" name="Text 1"/>
          <p:cNvSpPr/>
          <p:nvPr/>
        </p:nvSpPr>
        <p:spPr>
          <a:xfrm>
            <a:off x="822960" y="1874520"/>
            <a:ext cx="7315200" cy="10515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6600" kern="0" spc="-100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OFICINA</a:t>
            </a:r>
            <a:endParaRPr lang="en-US" sz="6600" dirty="0"/>
          </a:p>
        </p:txBody>
      </p:sp>
      <p:sp>
        <p:nvSpPr>
          <p:cNvPr id="5" name="Text 2"/>
          <p:cNvSpPr/>
          <p:nvPr/>
        </p:nvSpPr>
        <p:spPr>
          <a:xfrm>
            <a:off x="822960" y="2788920"/>
            <a:ext cx="7315200" cy="10515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6600" kern="0" spc="-100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DE ROBÔS</a:t>
            </a:r>
            <a:endParaRPr lang="en-US" sz="6600" dirty="0"/>
          </a:p>
        </p:txBody>
      </p:sp>
      <p:sp>
        <p:nvSpPr>
          <p:cNvPr id="6" name="Text 3"/>
          <p:cNvSpPr/>
          <p:nvPr/>
        </p:nvSpPr>
        <p:spPr>
          <a:xfrm>
            <a:off x="868680" y="3931920"/>
            <a:ext cx="7315200" cy="1005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ts val="3600"/>
              </a:lnSpc>
              <a:buNone/>
            </a:pPr>
            <a:r>
              <a:rPr lang="en-US" sz="2600" b="1" dirty="0">
                <a:solidFill>
                  <a:srgbClr val="F877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Automatize tarefas.
Ganhe tempo. Gere valor.</a:t>
            </a:r>
            <a:endParaRPr lang="en-US" sz="2600" dirty="0">
              <a:solidFill>
                <a:srgbClr val="F8772E"/>
              </a:solidFill>
            </a:endParaRPr>
          </a:p>
        </p:txBody>
      </p:sp>
      <p:sp>
        <p:nvSpPr>
          <p:cNvPr id="7" name="Shape 4"/>
          <p:cNvSpPr/>
          <p:nvPr/>
        </p:nvSpPr>
        <p:spPr>
          <a:xfrm>
            <a:off x="868680" y="5120640"/>
            <a:ext cx="2194560" cy="0"/>
          </a:xfrm>
          <a:prstGeom prst="line">
            <a:avLst/>
          </a:prstGeom>
          <a:noFill/>
          <a:ln w="38100">
            <a:solidFill>
              <a:srgbClr val="1D4ED8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8" name="Text 5"/>
          <p:cNvSpPr/>
          <p:nvPr/>
        </p:nvSpPr>
        <p:spPr>
          <a:xfrm>
            <a:off x="868680" y="5349240"/>
            <a:ext cx="7315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700" dirty="0">
                <a:solidFill>
                  <a:srgbClr val="D1D5D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⏱  30 minutos        ▶  Prática ao vivo</a:t>
            </a:r>
            <a:endParaRPr lang="en-US" sz="1700" dirty="0"/>
          </a:p>
        </p:txBody>
      </p:sp>
      <p:sp>
        <p:nvSpPr>
          <p:cNvPr id="9" name="Shape 6"/>
          <p:cNvSpPr/>
          <p:nvPr/>
        </p:nvSpPr>
        <p:spPr>
          <a:xfrm>
            <a:off x="8138160" y="1234440"/>
            <a:ext cx="3657600" cy="3657600"/>
          </a:xfrm>
          <a:prstGeom prst="ellipse">
            <a:avLst/>
          </a:prstGeom>
          <a:solidFill>
            <a:srgbClr val="12294F"/>
          </a:solidFill>
          <a:ln/>
        </p:spPr>
        <p:txBody>
          <a:bodyPr/>
          <a:lstStyle/>
          <a:p>
            <a:endParaRPr lang="pt-BR"/>
          </a:p>
        </p:txBody>
      </p:sp>
      <p:sp>
        <p:nvSpPr>
          <p:cNvPr id="10" name="Shape 7"/>
          <p:cNvSpPr/>
          <p:nvPr/>
        </p:nvSpPr>
        <p:spPr>
          <a:xfrm>
            <a:off x="8686800" y="1783080"/>
            <a:ext cx="2560320" cy="2560320"/>
          </a:xfrm>
          <a:prstGeom prst="ellipse">
            <a:avLst/>
          </a:prstGeom>
          <a:solidFill>
            <a:srgbClr val="0B1D3A"/>
          </a:solidFill>
          <a:ln w="25400">
            <a:solidFill>
              <a:srgbClr val="1D4ED8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11" name="Shape 8"/>
          <p:cNvSpPr/>
          <p:nvPr/>
        </p:nvSpPr>
        <p:spPr>
          <a:xfrm>
            <a:off x="9281160" y="2377440"/>
            <a:ext cx="1371600" cy="1371600"/>
          </a:xfrm>
          <a:prstGeom prst="ellipse">
            <a:avLst/>
          </a:prstGeom>
          <a:solidFill>
            <a:srgbClr val="1D4ED8"/>
          </a:solidFill>
          <a:ln/>
        </p:spPr>
        <p:txBody>
          <a:bodyPr/>
          <a:lstStyle/>
          <a:p>
            <a:endParaRPr lang="pt-BR"/>
          </a:p>
        </p:txBody>
      </p:sp>
      <p:sp>
        <p:nvSpPr>
          <p:cNvPr id="12" name="Shape 9"/>
          <p:cNvSpPr/>
          <p:nvPr/>
        </p:nvSpPr>
        <p:spPr>
          <a:xfrm>
            <a:off x="7366299" y="685800"/>
            <a:ext cx="4663440" cy="4663440"/>
          </a:xfrm>
          <a:prstGeom prst="arc">
            <a:avLst>
              <a:gd name="adj1" fmla="val 18000000"/>
              <a:gd name="adj2" fmla="val 3600000"/>
            </a:avLst>
          </a:prstGeom>
          <a:noFill/>
          <a:ln w="63500">
            <a:solidFill>
              <a:srgbClr val="F28C2B"/>
            </a:solidFill>
            <a:prstDash val="solid"/>
          </a:ln>
        </p:spPr>
        <p:txBody>
          <a:bodyPr/>
          <a:lstStyle/>
          <a:p>
            <a:endParaRPr lang="pt-BR">
              <a:solidFill>
                <a:srgbClr val="F37522"/>
              </a:solidFill>
            </a:endParaRPr>
          </a:p>
        </p:txBody>
      </p:sp>
      <p:sp>
        <p:nvSpPr>
          <p:cNvPr id="13" name="Text 10"/>
          <p:cNvSpPr/>
          <p:nvPr/>
        </p:nvSpPr>
        <p:spPr>
          <a:xfrm>
            <a:off x="8138160" y="5120640"/>
            <a:ext cx="3657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500" b="1" kern="0" spc="300" dirty="0">
                <a:solidFill>
                  <a:srgbClr val="D1D5D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AUTOMAÇÃO</a:t>
            </a:r>
            <a:endParaRPr lang="en-US" sz="15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02920" y="384048"/>
            <a:ext cx="1234440" cy="585216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10607040" y="411480"/>
            <a:ext cx="10972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1600" dirty="0">
                <a:solidFill>
                  <a:srgbClr val="8A93A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02</a:t>
            </a:r>
            <a:endParaRPr lang="en-US" sz="1600" dirty="0"/>
          </a:p>
        </p:txBody>
      </p:sp>
      <p:sp>
        <p:nvSpPr>
          <p:cNvPr id="4" name="Text 1"/>
          <p:cNvSpPr/>
          <p:nvPr/>
        </p:nvSpPr>
        <p:spPr>
          <a:xfrm>
            <a:off x="502920" y="1234440"/>
            <a:ext cx="1115568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4000" kern="0" spc="-50" dirty="0">
                <a:solidFill>
                  <a:srgbClr val="0B1D3A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O PROBLEMA</a:t>
            </a:r>
            <a:endParaRPr lang="en-US" sz="4000" dirty="0"/>
          </a:p>
        </p:txBody>
      </p:sp>
      <p:sp>
        <p:nvSpPr>
          <p:cNvPr id="5" name="Text 2"/>
          <p:cNvSpPr/>
          <p:nvPr/>
        </p:nvSpPr>
        <p:spPr>
          <a:xfrm>
            <a:off x="502920" y="2240280"/>
            <a:ext cx="60350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0B1D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Quanto tempo gastamos fazendo tarefas repetitivas?</a:t>
            </a:r>
            <a:endParaRPr lang="en-US" sz="2200" dirty="0"/>
          </a:p>
        </p:txBody>
      </p:sp>
      <p:sp>
        <p:nvSpPr>
          <p:cNvPr id="6" name="Shape 3"/>
          <p:cNvSpPr/>
          <p:nvPr/>
        </p:nvSpPr>
        <p:spPr>
          <a:xfrm>
            <a:off x="548640" y="3017520"/>
            <a:ext cx="274320" cy="274320"/>
          </a:xfrm>
          <a:prstGeom prst="ellipse">
            <a:avLst/>
          </a:prstGeom>
          <a:solidFill>
            <a:srgbClr val="F28C2B"/>
          </a:solidFill>
          <a:ln/>
        </p:spPr>
        <p:txBody>
          <a:bodyPr/>
          <a:lstStyle/>
          <a:p>
            <a:endParaRPr lang="pt-BR"/>
          </a:p>
        </p:txBody>
      </p:sp>
      <p:sp>
        <p:nvSpPr>
          <p:cNvPr id="7" name="Text 4"/>
          <p:cNvSpPr/>
          <p:nvPr/>
        </p:nvSpPr>
        <p:spPr>
          <a:xfrm>
            <a:off x="1005840" y="2971800"/>
            <a:ext cx="5486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000" dirty="0">
                <a:solidFill>
                  <a:srgbClr val="0B1D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Consultar informações em sites</a:t>
            </a:r>
            <a:endParaRPr lang="en-US" sz="2000" dirty="0"/>
          </a:p>
        </p:txBody>
      </p:sp>
      <p:sp>
        <p:nvSpPr>
          <p:cNvPr id="8" name="Shape 5"/>
          <p:cNvSpPr/>
          <p:nvPr/>
        </p:nvSpPr>
        <p:spPr>
          <a:xfrm>
            <a:off x="548640" y="3566160"/>
            <a:ext cx="274320" cy="274320"/>
          </a:xfrm>
          <a:prstGeom prst="ellipse">
            <a:avLst/>
          </a:prstGeom>
          <a:solidFill>
            <a:srgbClr val="F28C2B"/>
          </a:solidFill>
          <a:ln/>
        </p:spPr>
        <p:txBody>
          <a:bodyPr/>
          <a:lstStyle/>
          <a:p>
            <a:endParaRPr lang="pt-BR"/>
          </a:p>
        </p:txBody>
      </p:sp>
      <p:sp>
        <p:nvSpPr>
          <p:cNvPr id="9" name="Text 6"/>
          <p:cNvSpPr/>
          <p:nvPr/>
        </p:nvSpPr>
        <p:spPr>
          <a:xfrm>
            <a:off x="1005840" y="3520440"/>
            <a:ext cx="5486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000" dirty="0">
                <a:solidFill>
                  <a:srgbClr val="0B1D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Copiar dados entre sistemas</a:t>
            </a:r>
            <a:endParaRPr lang="en-US" sz="2000" dirty="0"/>
          </a:p>
        </p:txBody>
      </p:sp>
      <p:sp>
        <p:nvSpPr>
          <p:cNvPr id="10" name="Shape 7"/>
          <p:cNvSpPr/>
          <p:nvPr/>
        </p:nvSpPr>
        <p:spPr>
          <a:xfrm>
            <a:off x="548640" y="4114800"/>
            <a:ext cx="274320" cy="274320"/>
          </a:xfrm>
          <a:prstGeom prst="ellipse">
            <a:avLst/>
          </a:prstGeom>
          <a:solidFill>
            <a:srgbClr val="F28C2B"/>
          </a:solidFill>
          <a:ln/>
        </p:spPr>
        <p:txBody>
          <a:bodyPr/>
          <a:lstStyle/>
          <a:p>
            <a:endParaRPr lang="pt-BR"/>
          </a:p>
        </p:txBody>
      </p:sp>
      <p:sp>
        <p:nvSpPr>
          <p:cNvPr id="11" name="Text 8"/>
          <p:cNvSpPr/>
          <p:nvPr/>
        </p:nvSpPr>
        <p:spPr>
          <a:xfrm>
            <a:off x="1005840" y="4069080"/>
            <a:ext cx="5486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000" dirty="0">
                <a:solidFill>
                  <a:srgbClr val="0B1D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Renomear arquivos</a:t>
            </a:r>
            <a:endParaRPr lang="en-US" sz="2000" dirty="0"/>
          </a:p>
        </p:txBody>
      </p:sp>
      <p:sp>
        <p:nvSpPr>
          <p:cNvPr id="12" name="Shape 9"/>
          <p:cNvSpPr/>
          <p:nvPr/>
        </p:nvSpPr>
        <p:spPr>
          <a:xfrm>
            <a:off x="548640" y="4663440"/>
            <a:ext cx="274320" cy="274320"/>
          </a:xfrm>
          <a:prstGeom prst="ellipse">
            <a:avLst/>
          </a:prstGeom>
          <a:solidFill>
            <a:srgbClr val="F28C2B"/>
          </a:solidFill>
          <a:ln/>
        </p:spPr>
        <p:txBody>
          <a:bodyPr/>
          <a:lstStyle/>
          <a:p>
            <a:endParaRPr lang="pt-BR"/>
          </a:p>
        </p:txBody>
      </p:sp>
      <p:sp>
        <p:nvSpPr>
          <p:cNvPr id="13" name="Text 10"/>
          <p:cNvSpPr/>
          <p:nvPr/>
        </p:nvSpPr>
        <p:spPr>
          <a:xfrm>
            <a:off x="1005840" y="4617720"/>
            <a:ext cx="5486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000" dirty="0">
                <a:solidFill>
                  <a:srgbClr val="0B1D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Baixar documentos</a:t>
            </a:r>
            <a:endParaRPr lang="en-US" sz="2000" dirty="0"/>
          </a:p>
        </p:txBody>
      </p:sp>
      <p:sp>
        <p:nvSpPr>
          <p:cNvPr id="14" name="Shape 11"/>
          <p:cNvSpPr/>
          <p:nvPr/>
        </p:nvSpPr>
        <p:spPr>
          <a:xfrm>
            <a:off x="548640" y="5212080"/>
            <a:ext cx="274320" cy="274320"/>
          </a:xfrm>
          <a:prstGeom prst="ellipse">
            <a:avLst/>
          </a:prstGeom>
          <a:solidFill>
            <a:srgbClr val="F28C2B"/>
          </a:solidFill>
          <a:ln/>
        </p:spPr>
        <p:txBody>
          <a:bodyPr/>
          <a:lstStyle/>
          <a:p>
            <a:endParaRPr lang="pt-BR"/>
          </a:p>
        </p:txBody>
      </p:sp>
      <p:sp>
        <p:nvSpPr>
          <p:cNvPr id="15" name="Text 12"/>
          <p:cNvSpPr/>
          <p:nvPr/>
        </p:nvSpPr>
        <p:spPr>
          <a:xfrm>
            <a:off x="1005840" y="5166360"/>
            <a:ext cx="5486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000" dirty="0">
                <a:solidFill>
                  <a:srgbClr val="0B1D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Atualizar planilhas</a:t>
            </a:r>
            <a:endParaRPr lang="en-US" sz="2000" dirty="0"/>
          </a:p>
        </p:txBody>
      </p:sp>
      <p:sp>
        <p:nvSpPr>
          <p:cNvPr id="16" name="Shape 13"/>
          <p:cNvSpPr/>
          <p:nvPr/>
        </p:nvSpPr>
        <p:spPr>
          <a:xfrm>
            <a:off x="548640" y="5760720"/>
            <a:ext cx="274320" cy="274320"/>
          </a:xfrm>
          <a:prstGeom prst="ellipse">
            <a:avLst/>
          </a:prstGeom>
          <a:solidFill>
            <a:srgbClr val="F28C2B"/>
          </a:solidFill>
          <a:ln/>
        </p:spPr>
        <p:txBody>
          <a:bodyPr/>
          <a:lstStyle/>
          <a:p>
            <a:endParaRPr lang="pt-BR"/>
          </a:p>
        </p:txBody>
      </p:sp>
      <p:sp>
        <p:nvSpPr>
          <p:cNvPr id="17" name="Text 14"/>
          <p:cNvSpPr/>
          <p:nvPr/>
        </p:nvSpPr>
        <p:spPr>
          <a:xfrm>
            <a:off x="1005840" y="5715000"/>
            <a:ext cx="5486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000" dirty="0">
                <a:solidFill>
                  <a:srgbClr val="0B1D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Enviar e-mails repetitivos</a:t>
            </a:r>
            <a:endParaRPr lang="en-US" sz="2000" dirty="0"/>
          </a:p>
        </p:txBody>
      </p:sp>
      <p:sp>
        <p:nvSpPr>
          <p:cNvPr id="18" name="Shape 15"/>
          <p:cNvSpPr/>
          <p:nvPr/>
        </p:nvSpPr>
        <p:spPr>
          <a:xfrm>
            <a:off x="7863840" y="2148840"/>
            <a:ext cx="3291840" cy="731520"/>
          </a:xfrm>
          <a:prstGeom prst="rect">
            <a:avLst/>
          </a:prstGeom>
          <a:solidFill>
            <a:srgbClr val="0B1D3A"/>
          </a:solidFill>
          <a:ln/>
        </p:spPr>
        <p:txBody>
          <a:bodyPr/>
          <a:lstStyle/>
          <a:p>
            <a:endParaRPr lang="pt-BR"/>
          </a:p>
        </p:txBody>
      </p:sp>
      <p:sp>
        <p:nvSpPr>
          <p:cNvPr id="19" name="Text 16"/>
          <p:cNvSpPr/>
          <p:nvPr/>
        </p:nvSpPr>
        <p:spPr>
          <a:xfrm>
            <a:off x="7863840" y="2148840"/>
            <a:ext cx="329184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900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REPETIÇÃO</a:t>
            </a:r>
            <a:endParaRPr lang="en-US" sz="1900" dirty="0"/>
          </a:p>
        </p:txBody>
      </p:sp>
      <p:sp>
        <p:nvSpPr>
          <p:cNvPr id="20" name="Text 17"/>
          <p:cNvSpPr/>
          <p:nvPr/>
        </p:nvSpPr>
        <p:spPr>
          <a:xfrm>
            <a:off x="7863840" y="2862072"/>
            <a:ext cx="32918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600" dirty="0">
                <a:solidFill>
                  <a:srgbClr val="0B1D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↓</a:t>
            </a:r>
            <a:endParaRPr lang="en-US" sz="1600" dirty="0"/>
          </a:p>
        </p:txBody>
      </p:sp>
      <p:sp>
        <p:nvSpPr>
          <p:cNvPr id="21" name="Shape 18"/>
          <p:cNvSpPr/>
          <p:nvPr/>
        </p:nvSpPr>
        <p:spPr>
          <a:xfrm>
            <a:off x="7863840" y="3108960"/>
            <a:ext cx="3291840" cy="731520"/>
          </a:xfrm>
          <a:prstGeom prst="rect">
            <a:avLst/>
          </a:prstGeom>
          <a:solidFill>
            <a:srgbClr val="16345F"/>
          </a:solidFill>
          <a:ln/>
        </p:spPr>
        <p:txBody>
          <a:bodyPr/>
          <a:lstStyle/>
          <a:p>
            <a:endParaRPr lang="pt-BR"/>
          </a:p>
        </p:txBody>
      </p:sp>
      <p:sp>
        <p:nvSpPr>
          <p:cNvPr id="22" name="Text 19"/>
          <p:cNvSpPr/>
          <p:nvPr/>
        </p:nvSpPr>
        <p:spPr>
          <a:xfrm>
            <a:off x="7863840" y="3108960"/>
            <a:ext cx="329184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900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TEMPO</a:t>
            </a:r>
            <a:endParaRPr lang="en-US" sz="1900" dirty="0"/>
          </a:p>
        </p:txBody>
      </p:sp>
      <p:sp>
        <p:nvSpPr>
          <p:cNvPr id="23" name="Text 20"/>
          <p:cNvSpPr/>
          <p:nvPr/>
        </p:nvSpPr>
        <p:spPr>
          <a:xfrm>
            <a:off x="7863840" y="3822192"/>
            <a:ext cx="32918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600" dirty="0">
                <a:solidFill>
                  <a:srgbClr val="0B1D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↓</a:t>
            </a:r>
            <a:endParaRPr lang="en-US" sz="1600" dirty="0"/>
          </a:p>
        </p:txBody>
      </p:sp>
      <p:sp>
        <p:nvSpPr>
          <p:cNvPr id="24" name="Shape 21"/>
          <p:cNvSpPr/>
          <p:nvPr/>
        </p:nvSpPr>
        <p:spPr>
          <a:xfrm>
            <a:off x="7863840" y="4069080"/>
            <a:ext cx="3291840" cy="731520"/>
          </a:xfrm>
          <a:prstGeom prst="rect">
            <a:avLst/>
          </a:prstGeom>
          <a:solidFill>
            <a:srgbClr val="1E4A7A"/>
          </a:solidFill>
          <a:ln/>
        </p:spPr>
        <p:txBody>
          <a:bodyPr/>
          <a:lstStyle/>
          <a:p>
            <a:endParaRPr lang="pt-BR"/>
          </a:p>
        </p:txBody>
      </p:sp>
      <p:sp>
        <p:nvSpPr>
          <p:cNvPr id="25" name="Text 22"/>
          <p:cNvSpPr/>
          <p:nvPr/>
        </p:nvSpPr>
        <p:spPr>
          <a:xfrm>
            <a:off x="7863840" y="4069080"/>
            <a:ext cx="329184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900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CUSTO</a:t>
            </a:r>
            <a:endParaRPr lang="en-US" sz="1900" dirty="0"/>
          </a:p>
        </p:txBody>
      </p:sp>
      <p:sp>
        <p:nvSpPr>
          <p:cNvPr id="26" name="Text 23"/>
          <p:cNvSpPr/>
          <p:nvPr/>
        </p:nvSpPr>
        <p:spPr>
          <a:xfrm>
            <a:off x="7863840" y="4782312"/>
            <a:ext cx="32918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600" dirty="0">
                <a:solidFill>
                  <a:srgbClr val="0B1D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↓</a:t>
            </a:r>
            <a:endParaRPr lang="en-US" sz="1600" dirty="0"/>
          </a:p>
        </p:txBody>
      </p:sp>
      <p:sp>
        <p:nvSpPr>
          <p:cNvPr id="27" name="Shape 24"/>
          <p:cNvSpPr/>
          <p:nvPr/>
        </p:nvSpPr>
        <p:spPr>
          <a:xfrm>
            <a:off x="7863840" y="5029200"/>
            <a:ext cx="3291840" cy="731520"/>
          </a:xfrm>
          <a:prstGeom prst="rect">
            <a:avLst/>
          </a:prstGeom>
          <a:solidFill>
            <a:srgbClr val="F28C2B"/>
          </a:solidFill>
          <a:ln/>
        </p:spPr>
        <p:txBody>
          <a:bodyPr/>
          <a:lstStyle/>
          <a:p>
            <a:endParaRPr lang="pt-BR"/>
          </a:p>
        </p:txBody>
      </p:sp>
      <p:sp>
        <p:nvSpPr>
          <p:cNvPr id="28" name="Text 25"/>
          <p:cNvSpPr/>
          <p:nvPr/>
        </p:nvSpPr>
        <p:spPr>
          <a:xfrm>
            <a:off x="7863840" y="5029200"/>
            <a:ext cx="329184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900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ERROS</a:t>
            </a:r>
            <a:endParaRPr lang="en-US" sz="19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B1D3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02920" y="384048"/>
            <a:ext cx="1234440" cy="585216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10607040" y="411480"/>
            <a:ext cx="10972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1600" dirty="0">
                <a:solidFill>
                  <a:srgbClr val="D1D5D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03</a:t>
            </a:r>
            <a:endParaRPr lang="en-US" sz="1600" dirty="0"/>
          </a:p>
        </p:txBody>
      </p:sp>
      <p:sp>
        <p:nvSpPr>
          <p:cNvPr id="4" name="Text 1"/>
          <p:cNvSpPr/>
          <p:nvPr/>
        </p:nvSpPr>
        <p:spPr>
          <a:xfrm>
            <a:off x="502920" y="1234440"/>
            <a:ext cx="1115568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4000" kern="0" spc="-50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O QUE É UM ROBÔ?</a:t>
            </a:r>
            <a:endParaRPr lang="en-US" sz="4000" dirty="0"/>
          </a:p>
        </p:txBody>
      </p:sp>
      <p:sp>
        <p:nvSpPr>
          <p:cNvPr id="5" name="Text 2"/>
          <p:cNvSpPr/>
          <p:nvPr/>
        </p:nvSpPr>
        <p:spPr>
          <a:xfrm>
            <a:off x="502920" y="2240280"/>
            <a:ext cx="88696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r>
              <a:rPr lang="pt-BR" sz="2200" dirty="0">
                <a:solidFill>
                  <a:srgbClr val="F8772E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Um robô é uma máquina programável capaz de executar tarefas no mundo físico de forma automática ou autônoma</a:t>
            </a:r>
            <a:endParaRPr lang="en-US" sz="2200" dirty="0">
              <a:solidFill>
                <a:srgbClr val="F8772E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6" name="Shape 3"/>
          <p:cNvSpPr/>
          <p:nvPr/>
        </p:nvSpPr>
        <p:spPr>
          <a:xfrm>
            <a:off x="502920" y="3200400"/>
            <a:ext cx="2606040" cy="1463040"/>
          </a:xfrm>
          <a:prstGeom prst="roundRect">
            <a:avLst>
              <a:gd name="adj" fmla="val 7500"/>
            </a:avLst>
          </a:prstGeom>
          <a:solidFill>
            <a:srgbClr val="12294F"/>
          </a:solidFill>
          <a:ln/>
        </p:spPr>
        <p:txBody>
          <a:bodyPr/>
          <a:lstStyle/>
          <a:p>
            <a:endParaRPr lang="pt-BR"/>
          </a:p>
        </p:txBody>
      </p:sp>
      <p:sp>
        <p:nvSpPr>
          <p:cNvPr id="7" name="Text 4"/>
          <p:cNvSpPr/>
          <p:nvPr/>
        </p:nvSpPr>
        <p:spPr>
          <a:xfrm>
            <a:off x="502920" y="3337560"/>
            <a:ext cx="26060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6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◎</a:t>
            </a:r>
            <a:endParaRPr lang="en-US" sz="2600" dirty="0"/>
          </a:p>
        </p:txBody>
      </p:sp>
      <p:sp>
        <p:nvSpPr>
          <p:cNvPr id="8" name="Text 5"/>
          <p:cNvSpPr/>
          <p:nvPr/>
        </p:nvSpPr>
        <p:spPr>
          <a:xfrm>
            <a:off x="640080" y="3931920"/>
            <a:ext cx="2331720" cy="5943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 algn="ctr">
              <a:buNone/>
            </a:pPr>
            <a:r>
              <a:rPr lang="en-US" sz="1600" dirty="0">
                <a:solidFill>
                  <a:srgbClr val="D1D5D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Abrir sites</a:t>
            </a:r>
            <a:endParaRPr lang="en-US" sz="1600" dirty="0"/>
          </a:p>
        </p:txBody>
      </p:sp>
      <p:sp>
        <p:nvSpPr>
          <p:cNvPr id="9" name="Shape 6"/>
          <p:cNvSpPr/>
          <p:nvPr/>
        </p:nvSpPr>
        <p:spPr>
          <a:xfrm>
            <a:off x="3355848" y="3200400"/>
            <a:ext cx="2606040" cy="1463040"/>
          </a:xfrm>
          <a:prstGeom prst="roundRect">
            <a:avLst>
              <a:gd name="adj" fmla="val 7500"/>
            </a:avLst>
          </a:prstGeom>
          <a:solidFill>
            <a:srgbClr val="12294F"/>
          </a:solidFill>
          <a:ln/>
        </p:spPr>
        <p:txBody>
          <a:bodyPr/>
          <a:lstStyle/>
          <a:p>
            <a:endParaRPr lang="pt-BR"/>
          </a:p>
        </p:txBody>
      </p:sp>
      <p:sp>
        <p:nvSpPr>
          <p:cNvPr id="10" name="Text 7"/>
          <p:cNvSpPr/>
          <p:nvPr/>
        </p:nvSpPr>
        <p:spPr>
          <a:xfrm>
            <a:off x="3355848" y="3337560"/>
            <a:ext cx="26060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6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☰</a:t>
            </a:r>
            <a:endParaRPr lang="en-US" sz="2600" dirty="0"/>
          </a:p>
        </p:txBody>
      </p:sp>
      <p:sp>
        <p:nvSpPr>
          <p:cNvPr id="11" name="Text 8"/>
          <p:cNvSpPr/>
          <p:nvPr/>
        </p:nvSpPr>
        <p:spPr>
          <a:xfrm>
            <a:off x="3493008" y="3931920"/>
            <a:ext cx="2331720" cy="5943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 algn="ctr">
              <a:buNone/>
            </a:pPr>
            <a:r>
              <a:rPr lang="en-US" sz="1600" dirty="0">
                <a:solidFill>
                  <a:srgbClr val="D1D5D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Clicar em botões</a:t>
            </a:r>
            <a:endParaRPr lang="en-US" sz="1600" dirty="0"/>
          </a:p>
        </p:txBody>
      </p:sp>
      <p:sp>
        <p:nvSpPr>
          <p:cNvPr id="12" name="Shape 9"/>
          <p:cNvSpPr/>
          <p:nvPr/>
        </p:nvSpPr>
        <p:spPr>
          <a:xfrm>
            <a:off x="6208776" y="3200400"/>
            <a:ext cx="2606040" cy="1463040"/>
          </a:xfrm>
          <a:prstGeom prst="roundRect">
            <a:avLst>
              <a:gd name="adj" fmla="val 7500"/>
            </a:avLst>
          </a:prstGeom>
          <a:solidFill>
            <a:srgbClr val="12294F"/>
          </a:solidFill>
          <a:ln/>
        </p:spPr>
        <p:txBody>
          <a:bodyPr/>
          <a:lstStyle/>
          <a:p>
            <a:endParaRPr lang="pt-BR"/>
          </a:p>
        </p:txBody>
      </p:sp>
      <p:sp>
        <p:nvSpPr>
          <p:cNvPr id="13" name="Text 10"/>
          <p:cNvSpPr/>
          <p:nvPr/>
        </p:nvSpPr>
        <p:spPr>
          <a:xfrm>
            <a:off x="6208776" y="3337560"/>
            <a:ext cx="26060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6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▤</a:t>
            </a:r>
            <a:endParaRPr lang="en-US" sz="2600" dirty="0"/>
          </a:p>
        </p:txBody>
      </p:sp>
      <p:sp>
        <p:nvSpPr>
          <p:cNvPr id="14" name="Text 11"/>
          <p:cNvSpPr/>
          <p:nvPr/>
        </p:nvSpPr>
        <p:spPr>
          <a:xfrm>
            <a:off x="6345936" y="3931920"/>
            <a:ext cx="2331720" cy="5943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 algn="ctr">
              <a:buNone/>
            </a:pPr>
            <a:r>
              <a:rPr lang="en-US" sz="1600" dirty="0">
                <a:solidFill>
                  <a:srgbClr val="D1D5D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Preencher formulários</a:t>
            </a:r>
            <a:endParaRPr lang="en-US" sz="1600" dirty="0"/>
          </a:p>
        </p:txBody>
      </p:sp>
      <p:sp>
        <p:nvSpPr>
          <p:cNvPr id="15" name="Shape 12"/>
          <p:cNvSpPr/>
          <p:nvPr/>
        </p:nvSpPr>
        <p:spPr>
          <a:xfrm>
            <a:off x="9061704" y="3200400"/>
            <a:ext cx="2606040" cy="1463040"/>
          </a:xfrm>
          <a:prstGeom prst="roundRect">
            <a:avLst>
              <a:gd name="adj" fmla="val 7500"/>
            </a:avLst>
          </a:prstGeom>
          <a:solidFill>
            <a:srgbClr val="12294F"/>
          </a:solidFill>
          <a:ln/>
        </p:spPr>
        <p:txBody>
          <a:bodyPr/>
          <a:lstStyle/>
          <a:p>
            <a:endParaRPr lang="pt-BR"/>
          </a:p>
        </p:txBody>
      </p:sp>
      <p:sp>
        <p:nvSpPr>
          <p:cNvPr id="16" name="Text 13"/>
          <p:cNvSpPr/>
          <p:nvPr/>
        </p:nvSpPr>
        <p:spPr>
          <a:xfrm>
            <a:off x="9061704" y="3337560"/>
            <a:ext cx="26060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6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↓</a:t>
            </a:r>
            <a:endParaRPr lang="en-US" sz="2600" dirty="0"/>
          </a:p>
        </p:txBody>
      </p:sp>
      <p:sp>
        <p:nvSpPr>
          <p:cNvPr id="17" name="Text 14"/>
          <p:cNvSpPr/>
          <p:nvPr/>
        </p:nvSpPr>
        <p:spPr>
          <a:xfrm>
            <a:off x="9198864" y="3931920"/>
            <a:ext cx="2331720" cy="5943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 algn="ctr">
              <a:buNone/>
            </a:pPr>
            <a:r>
              <a:rPr lang="en-US" sz="1600" dirty="0">
                <a:solidFill>
                  <a:srgbClr val="D1D5D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Baixar arquivos</a:t>
            </a:r>
            <a:endParaRPr lang="en-US" sz="1600" dirty="0"/>
          </a:p>
        </p:txBody>
      </p:sp>
      <p:sp>
        <p:nvSpPr>
          <p:cNvPr id="18" name="Shape 15"/>
          <p:cNvSpPr/>
          <p:nvPr/>
        </p:nvSpPr>
        <p:spPr>
          <a:xfrm>
            <a:off x="502920" y="4846320"/>
            <a:ext cx="2606040" cy="1463040"/>
          </a:xfrm>
          <a:prstGeom prst="roundRect">
            <a:avLst>
              <a:gd name="adj" fmla="val 7500"/>
            </a:avLst>
          </a:prstGeom>
          <a:solidFill>
            <a:srgbClr val="12294F"/>
          </a:solidFill>
          <a:ln/>
        </p:spPr>
        <p:txBody>
          <a:bodyPr/>
          <a:lstStyle/>
          <a:p>
            <a:endParaRPr lang="pt-BR"/>
          </a:p>
        </p:txBody>
      </p:sp>
      <p:sp>
        <p:nvSpPr>
          <p:cNvPr id="19" name="Text 16"/>
          <p:cNvSpPr/>
          <p:nvPr/>
        </p:nvSpPr>
        <p:spPr>
          <a:xfrm>
            <a:off x="502920" y="4983480"/>
            <a:ext cx="26060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6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▦</a:t>
            </a:r>
            <a:endParaRPr lang="en-US" sz="2600" dirty="0"/>
          </a:p>
        </p:txBody>
      </p:sp>
      <p:sp>
        <p:nvSpPr>
          <p:cNvPr id="20" name="Text 17"/>
          <p:cNvSpPr/>
          <p:nvPr/>
        </p:nvSpPr>
        <p:spPr>
          <a:xfrm>
            <a:off x="640080" y="5577840"/>
            <a:ext cx="2331720" cy="5943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 algn="ctr">
              <a:buNone/>
            </a:pPr>
            <a:r>
              <a:rPr lang="en-US" sz="1600" dirty="0">
                <a:solidFill>
                  <a:srgbClr val="D1D5D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Ler planilhas</a:t>
            </a:r>
            <a:endParaRPr lang="en-US" sz="1600" dirty="0"/>
          </a:p>
        </p:txBody>
      </p:sp>
      <p:sp>
        <p:nvSpPr>
          <p:cNvPr id="21" name="Shape 18"/>
          <p:cNvSpPr/>
          <p:nvPr/>
        </p:nvSpPr>
        <p:spPr>
          <a:xfrm>
            <a:off x="3355848" y="4846320"/>
            <a:ext cx="2606040" cy="1463040"/>
          </a:xfrm>
          <a:prstGeom prst="roundRect">
            <a:avLst>
              <a:gd name="adj" fmla="val 7500"/>
            </a:avLst>
          </a:prstGeom>
          <a:solidFill>
            <a:srgbClr val="12294F"/>
          </a:solidFill>
          <a:ln/>
        </p:spPr>
        <p:txBody>
          <a:bodyPr/>
          <a:lstStyle/>
          <a:p>
            <a:endParaRPr lang="pt-BR"/>
          </a:p>
        </p:txBody>
      </p:sp>
      <p:sp>
        <p:nvSpPr>
          <p:cNvPr id="22" name="Text 19"/>
          <p:cNvSpPr/>
          <p:nvPr/>
        </p:nvSpPr>
        <p:spPr>
          <a:xfrm>
            <a:off x="3355848" y="4983480"/>
            <a:ext cx="26060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6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✉</a:t>
            </a:r>
            <a:endParaRPr lang="en-US" sz="2600" dirty="0"/>
          </a:p>
        </p:txBody>
      </p:sp>
      <p:sp>
        <p:nvSpPr>
          <p:cNvPr id="23" name="Text 20"/>
          <p:cNvSpPr/>
          <p:nvPr/>
        </p:nvSpPr>
        <p:spPr>
          <a:xfrm>
            <a:off x="3493008" y="5577840"/>
            <a:ext cx="2331720" cy="5943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 algn="ctr">
              <a:buNone/>
            </a:pPr>
            <a:r>
              <a:rPr lang="en-US" sz="1600" dirty="0">
                <a:solidFill>
                  <a:srgbClr val="D1D5D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Enviar e-mails</a:t>
            </a:r>
            <a:endParaRPr lang="en-US" sz="1600" dirty="0"/>
          </a:p>
        </p:txBody>
      </p:sp>
      <p:sp>
        <p:nvSpPr>
          <p:cNvPr id="24" name="Shape 21"/>
          <p:cNvSpPr/>
          <p:nvPr/>
        </p:nvSpPr>
        <p:spPr>
          <a:xfrm>
            <a:off x="6208776" y="4846320"/>
            <a:ext cx="2606040" cy="1463040"/>
          </a:xfrm>
          <a:prstGeom prst="roundRect">
            <a:avLst>
              <a:gd name="adj" fmla="val 7500"/>
            </a:avLst>
          </a:prstGeom>
          <a:solidFill>
            <a:srgbClr val="12294F"/>
          </a:solidFill>
          <a:ln/>
        </p:spPr>
        <p:txBody>
          <a:bodyPr/>
          <a:lstStyle/>
          <a:p>
            <a:endParaRPr lang="pt-BR"/>
          </a:p>
        </p:txBody>
      </p:sp>
      <p:sp>
        <p:nvSpPr>
          <p:cNvPr id="25" name="Text 22"/>
          <p:cNvSpPr/>
          <p:nvPr/>
        </p:nvSpPr>
        <p:spPr>
          <a:xfrm>
            <a:off x="6208776" y="4983480"/>
            <a:ext cx="26060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6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{ }</a:t>
            </a:r>
            <a:endParaRPr lang="en-US" sz="2600" dirty="0"/>
          </a:p>
        </p:txBody>
      </p:sp>
      <p:sp>
        <p:nvSpPr>
          <p:cNvPr id="26" name="Text 23"/>
          <p:cNvSpPr/>
          <p:nvPr/>
        </p:nvSpPr>
        <p:spPr>
          <a:xfrm>
            <a:off x="6345936" y="5577840"/>
            <a:ext cx="2331720" cy="5943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 algn="ctr">
              <a:buNone/>
            </a:pPr>
            <a:r>
              <a:rPr lang="en-US" sz="1600" dirty="0">
                <a:solidFill>
                  <a:srgbClr val="D1D5D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Consumir APIs</a:t>
            </a:r>
            <a:endParaRPr lang="en-US" sz="1600" dirty="0"/>
          </a:p>
        </p:txBody>
      </p:sp>
      <p:sp>
        <p:nvSpPr>
          <p:cNvPr id="27" name="Shape 24"/>
          <p:cNvSpPr/>
          <p:nvPr/>
        </p:nvSpPr>
        <p:spPr>
          <a:xfrm>
            <a:off x="9061704" y="4846320"/>
            <a:ext cx="2606040" cy="1463040"/>
          </a:xfrm>
          <a:prstGeom prst="roundRect">
            <a:avLst>
              <a:gd name="adj" fmla="val 7500"/>
            </a:avLst>
          </a:prstGeom>
          <a:solidFill>
            <a:srgbClr val="12294F"/>
          </a:solidFill>
          <a:ln/>
        </p:spPr>
        <p:txBody>
          <a:bodyPr/>
          <a:lstStyle/>
          <a:p>
            <a:endParaRPr lang="pt-BR"/>
          </a:p>
        </p:txBody>
      </p:sp>
      <p:sp>
        <p:nvSpPr>
          <p:cNvPr id="28" name="Text 25"/>
          <p:cNvSpPr/>
          <p:nvPr/>
        </p:nvSpPr>
        <p:spPr>
          <a:xfrm>
            <a:off x="9061704" y="4983480"/>
            <a:ext cx="26060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6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▲</a:t>
            </a:r>
            <a:endParaRPr lang="en-US" sz="2600" dirty="0"/>
          </a:p>
        </p:txBody>
      </p:sp>
      <p:sp>
        <p:nvSpPr>
          <p:cNvPr id="29" name="Text 26"/>
          <p:cNvSpPr/>
          <p:nvPr/>
        </p:nvSpPr>
        <p:spPr>
          <a:xfrm>
            <a:off x="9198864" y="5577840"/>
            <a:ext cx="2331720" cy="5943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 algn="ctr">
              <a:buNone/>
            </a:pPr>
            <a:r>
              <a:rPr lang="en-US" sz="1600" dirty="0">
                <a:solidFill>
                  <a:srgbClr val="D1D5D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Gerar relatórios</a:t>
            </a:r>
            <a:endParaRPr lang="en-US" sz="16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02920" y="384048"/>
            <a:ext cx="1234440" cy="585216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10607040" y="411480"/>
            <a:ext cx="10972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1600" dirty="0">
                <a:solidFill>
                  <a:srgbClr val="8A93A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04</a:t>
            </a:r>
            <a:endParaRPr lang="en-US" sz="1600" dirty="0"/>
          </a:p>
        </p:txBody>
      </p:sp>
      <p:sp>
        <p:nvSpPr>
          <p:cNvPr id="4" name="Text 1"/>
          <p:cNvSpPr/>
          <p:nvPr/>
        </p:nvSpPr>
        <p:spPr>
          <a:xfrm>
            <a:off x="502920" y="1234440"/>
            <a:ext cx="1115568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4000" kern="0" spc="-50" dirty="0">
                <a:solidFill>
                  <a:srgbClr val="0B1D3A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O SEGREDO</a:t>
            </a:r>
            <a:endParaRPr lang="en-US" sz="4000" dirty="0"/>
          </a:p>
        </p:txBody>
      </p:sp>
      <p:sp>
        <p:nvSpPr>
          <p:cNvPr id="5" name="Text 2"/>
          <p:cNvSpPr/>
          <p:nvPr/>
        </p:nvSpPr>
        <p:spPr>
          <a:xfrm>
            <a:off x="1005840" y="2148840"/>
            <a:ext cx="3657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200" dirty="0">
                <a:solidFill>
                  <a:srgbClr val="F28C2B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ANTES</a:t>
            </a:r>
            <a:endParaRPr lang="en-US" sz="2200" dirty="0"/>
          </a:p>
        </p:txBody>
      </p:sp>
      <p:sp>
        <p:nvSpPr>
          <p:cNvPr id="6" name="Text 3"/>
          <p:cNvSpPr/>
          <p:nvPr/>
        </p:nvSpPr>
        <p:spPr>
          <a:xfrm>
            <a:off x="6949440" y="2148840"/>
            <a:ext cx="3657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200" dirty="0">
                <a:solidFill>
                  <a:srgbClr val="F28C2B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DEPOIS</a:t>
            </a:r>
            <a:endParaRPr lang="en-US" sz="2200" dirty="0"/>
          </a:p>
        </p:txBody>
      </p:sp>
      <p:sp>
        <p:nvSpPr>
          <p:cNvPr id="7" name="Shape 4"/>
          <p:cNvSpPr/>
          <p:nvPr/>
        </p:nvSpPr>
        <p:spPr>
          <a:xfrm>
            <a:off x="1005840" y="2834640"/>
            <a:ext cx="457200" cy="457200"/>
          </a:xfrm>
          <a:prstGeom prst="ellipse">
            <a:avLst/>
          </a:prstGeom>
          <a:solidFill>
            <a:srgbClr val="1D4ED8"/>
          </a:solidFill>
          <a:ln/>
        </p:spPr>
        <p:txBody>
          <a:bodyPr/>
          <a:lstStyle/>
          <a:p>
            <a:endParaRPr lang="pt-BR"/>
          </a:p>
        </p:txBody>
      </p:sp>
      <p:sp>
        <p:nvSpPr>
          <p:cNvPr id="8" name="Text 5"/>
          <p:cNvSpPr/>
          <p:nvPr/>
        </p:nvSpPr>
        <p:spPr>
          <a:xfrm>
            <a:off x="1005840" y="2834640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</a:t>
            </a:r>
            <a:endParaRPr lang="en-US" sz="2000" dirty="0"/>
          </a:p>
        </p:txBody>
      </p:sp>
      <p:sp>
        <p:nvSpPr>
          <p:cNvPr id="9" name="Text 6"/>
          <p:cNvSpPr/>
          <p:nvPr/>
        </p:nvSpPr>
        <p:spPr>
          <a:xfrm>
            <a:off x="1645920" y="2834640"/>
            <a:ext cx="31089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000" dirty="0">
                <a:solidFill>
                  <a:srgbClr val="0B1D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Pessoa</a:t>
            </a:r>
            <a:endParaRPr lang="en-US" sz="2000" dirty="0"/>
          </a:p>
        </p:txBody>
      </p:sp>
      <p:sp>
        <p:nvSpPr>
          <p:cNvPr id="10" name="Shape 7"/>
          <p:cNvSpPr/>
          <p:nvPr/>
        </p:nvSpPr>
        <p:spPr>
          <a:xfrm>
            <a:off x="1005840" y="3611880"/>
            <a:ext cx="457200" cy="457200"/>
          </a:xfrm>
          <a:prstGeom prst="ellipse">
            <a:avLst/>
          </a:prstGeom>
          <a:solidFill>
            <a:srgbClr val="1D4ED8"/>
          </a:solidFill>
          <a:ln/>
        </p:spPr>
        <p:txBody>
          <a:bodyPr/>
          <a:lstStyle/>
          <a:p>
            <a:endParaRPr lang="pt-BR"/>
          </a:p>
        </p:txBody>
      </p:sp>
      <p:sp>
        <p:nvSpPr>
          <p:cNvPr id="11" name="Text 8"/>
          <p:cNvSpPr/>
          <p:nvPr/>
        </p:nvSpPr>
        <p:spPr>
          <a:xfrm>
            <a:off x="1005840" y="3611880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</a:t>
            </a:r>
            <a:endParaRPr lang="en-US" sz="2000" dirty="0"/>
          </a:p>
        </p:txBody>
      </p:sp>
      <p:sp>
        <p:nvSpPr>
          <p:cNvPr id="12" name="Text 9"/>
          <p:cNvSpPr/>
          <p:nvPr/>
        </p:nvSpPr>
        <p:spPr>
          <a:xfrm>
            <a:off x="1645920" y="3611880"/>
            <a:ext cx="31089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000" dirty="0">
                <a:solidFill>
                  <a:srgbClr val="0B1D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Sistema</a:t>
            </a:r>
            <a:endParaRPr lang="en-US" sz="2000" dirty="0"/>
          </a:p>
        </p:txBody>
      </p:sp>
      <p:sp>
        <p:nvSpPr>
          <p:cNvPr id="13" name="Shape 10"/>
          <p:cNvSpPr/>
          <p:nvPr/>
        </p:nvSpPr>
        <p:spPr>
          <a:xfrm>
            <a:off x="1005840" y="4389120"/>
            <a:ext cx="457200" cy="457200"/>
          </a:xfrm>
          <a:prstGeom prst="ellipse">
            <a:avLst/>
          </a:prstGeom>
          <a:solidFill>
            <a:srgbClr val="1D4ED8"/>
          </a:solidFill>
          <a:ln/>
        </p:spPr>
        <p:txBody>
          <a:bodyPr/>
          <a:lstStyle/>
          <a:p>
            <a:endParaRPr lang="pt-BR"/>
          </a:p>
        </p:txBody>
      </p:sp>
      <p:sp>
        <p:nvSpPr>
          <p:cNvPr id="14" name="Text 11"/>
          <p:cNvSpPr/>
          <p:nvPr/>
        </p:nvSpPr>
        <p:spPr>
          <a:xfrm>
            <a:off x="1005840" y="4389120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</a:t>
            </a:r>
            <a:endParaRPr lang="en-US" sz="2000" dirty="0"/>
          </a:p>
        </p:txBody>
      </p:sp>
      <p:sp>
        <p:nvSpPr>
          <p:cNvPr id="15" name="Text 12"/>
          <p:cNvSpPr/>
          <p:nvPr/>
        </p:nvSpPr>
        <p:spPr>
          <a:xfrm>
            <a:off x="1645920" y="4389120"/>
            <a:ext cx="31089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000" dirty="0">
                <a:solidFill>
                  <a:srgbClr val="0B1D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Planilha</a:t>
            </a:r>
            <a:endParaRPr lang="en-US" sz="2000" dirty="0"/>
          </a:p>
        </p:txBody>
      </p:sp>
      <p:sp>
        <p:nvSpPr>
          <p:cNvPr id="16" name="Shape 13"/>
          <p:cNvSpPr/>
          <p:nvPr/>
        </p:nvSpPr>
        <p:spPr>
          <a:xfrm>
            <a:off x="1005840" y="5166360"/>
            <a:ext cx="457200" cy="457200"/>
          </a:xfrm>
          <a:prstGeom prst="ellipse">
            <a:avLst/>
          </a:prstGeom>
          <a:solidFill>
            <a:srgbClr val="1D4ED8"/>
          </a:solidFill>
          <a:ln/>
        </p:spPr>
        <p:txBody>
          <a:bodyPr/>
          <a:lstStyle/>
          <a:p>
            <a:endParaRPr lang="pt-BR"/>
          </a:p>
        </p:txBody>
      </p:sp>
      <p:sp>
        <p:nvSpPr>
          <p:cNvPr id="17" name="Text 14"/>
          <p:cNvSpPr/>
          <p:nvPr/>
        </p:nvSpPr>
        <p:spPr>
          <a:xfrm>
            <a:off x="1005840" y="5166360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</a:t>
            </a:r>
            <a:endParaRPr lang="en-US" sz="2000" dirty="0"/>
          </a:p>
        </p:txBody>
      </p:sp>
      <p:sp>
        <p:nvSpPr>
          <p:cNvPr id="18" name="Text 15"/>
          <p:cNvSpPr/>
          <p:nvPr/>
        </p:nvSpPr>
        <p:spPr>
          <a:xfrm>
            <a:off x="1645920" y="5166360"/>
            <a:ext cx="31089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000" dirty="0">
                <a:solidFill>
                  <a:srgbClr val="0B1D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E-mail</a:t>
            </a:r>
            <a:endParaRPr lang="en-US" sz="2000" dirty="0"/>
          </a:p>
        </p:txBody>
      </p:sp>
      <p:sp>
        <p:nvSpPr>
          <p:cNvPr id="19" name="Shape 16"/>
          <p:cNvSpPr/>
          <p:nvPr/>
        </p:nvSpPr>
        <p:spPr>
          <a:xfrm>
            <a:off x="6949440" y="2834640"/>
            <a:ext cx="457200" cy="457200"/>
          </a:xfrm>
          <a:prstGeom prst="ellipse">
            <a:avLst/>
          </a:prstGeom>
          <a:solidFill>
            <a:srgbClr val="F28C2B"/>
          </a:solidFill>
          <a:ln/>
        </p:spPr>
        <p:txBody>
          <a:bodyPr/>
          <a:lstStyle/>
          <a:p>
            <a:endParaRPr lang="pt-BR"/>
          </a:p>
        </p:txBody>
      </p:sp>
      <p:sp>
        <p:nvSpPr>
          <p:cNvPr id="20" name="Text 17"/>
          <p:cNvSpPr/>
          <p:nvPr/>
        </p:nvSpPr>
        <p:spPr>
          <a:xfrm>
            <a:off x="6949440" y="2834640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</a:t>
            </a:r>
            <a:endParaRPr lang="en-US" sz="2000" dirty="0"/>
          </a:p>
        </p:txBody>
      </p:sp>
      <p:sp>
        <p:nvSpPr>
          <p:cNvPr id="21" name="Text 18"/>
          <p:cNvSpPr/>
          <p:nvPr/>
        </p:nvSpPr>
        <p:spPr>
          <a:xfrm>
            <a:off x="7589520" y="2834640"/>
            <a:ext cx="3931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000" dirty="0">
                <a:solidFill>
                  <a:srgbClr val="0B1D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Robô</a:t>
            </a:r>
            <a:endParaRPr lang="en-US" sz="2000" dirty="0"/>
          </a:p>
        </p:txBody>
      </p:sp>
      <p:sp>
        <p:nvSpPr>
          <p:cNvPr id="22" name="Shape 19"/>
          <p:cNvSpPr/>
          <p:nvPr/>
        </p:nvSpPr>
        <p:spPr>
          <a:xfrm>
            <a:off x="6949440" y="3611880"/>
            <a:ext cx="457200" cy="457200"/>
          </a:xfrm>
          <a:prstGeom prst="ellipse">
            <a:avLst/>
          </a:prstGeom>
          <a:solidFill>
            <a:srgbClr val="F28C2B"/>
          </a:solidFill>
          <a:ln/>
        </p:spPr>
        <p:txBody>
          <a:bodyPr/>
          <a:lstStyle/>
          <a:p>
            <a:endParaRPr lang="pt-BR"/>
          </a:p>
        </p:txBody>
      </p:sp>
      <p:sp>
        <p:nvSpPr>
          <p:cNvPr id="23" name="Text 20"/>
          <p:cNvSpPr/>
          <p:nvPr/>
        </p:nvSpPr>
        <p:spPr>
          <a:xfrm>
            <a:off x="6949440" y="3611880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</a:t>
            </a:r>
            <a:endParaRPr lang="en-US" sz="2000" dirty="0"/>
          </a:p>
        </p:txBody>
      </p:sp>
      <p:sp>
        <p:nvSpPr>
          <p:cNvPr id="24" name="Text 21"/>
          <p:cNvSpPr/>
          <p:nvPr/>
        </p:nvSpPr>
        <p:spPr>
          <a:xfrm>
            <a:off x="7589520" y="3611880"/>
            <a:ext cx="3931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000" dirty="0">
                <a:solidFill>
                  <a:srgbClr val="0B1D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Sistema</a:t>
            </a:r>
            <a:endParaRPr lang="en-US" sz="2000" dirty="0"/>
          </a:p>
        </p:txBody>
      </p:sp>
      <p:sp>
        <p:nvSpPr>
          <p:cNvPr id="25" name="Shape 22"/>
          <p:cNvSpPr/>
          <p:nvPr/>
        </p:nvSpPr>
        <p:spPr>
          <a:xfrm>
            <a:off x="6949440" y="4389120"/>
            <a:ext cx="457200" cy="457200"/>
          </a:xfrm>
          <a:prstGeom prst="ellipse">
            <a:avLst/>
          </a:prstGeom>
          <a:solidFill>
            <a:srgbClr val="F28C2B"/>
          </a:solidFill>
          <a:ln/>
        </p:spPr>
        <p:txBody>
          <a:bodyPr/>
          <a:lstStyle/>
          <a:p>
            <a:endParaRPr lang="pt-BR"/>
          </a:p>
        </p:txBody>
      </p:sp>
      <p:sp>
        <p:nvSpPr>
          <p:cNvPr id="26" name="Text 23"/>
          <p:cNvSpPr/>
          <p:nvPr/>
        </p:nvSpPr>
        <p:spPr>
          <a:xfrm>
            <a:off x="6949440" y="4389120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</a:t>
            </a:r>
            <a:endParaRPr lang="en-US" sz="2000" dirty="0"/>
          </a:p>
        </p:txBody>
      </p:sp>
      <p:sp>
        <p:nvSpPr>
          <p:cNvPr id="27" name="Text 24"/>
          <p:cNvSpPr/>
          <p:nvPr/>
        </p:nvSpPr>
        <p:spPr>
          <a:xfrm>
            <a:off x="7589520" y="4389120"/>
            <a:ext cx="3931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000" dirty="0">
                <a:solidFill>
                  <a:srgbClr val="0B1D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Planilha</a:t>
            </a:r>
            <a:endParaRPr lang="en-US" sz="2000" dirty="0"/>
          </a:p>
        </p:txBody>
      </p:sp>
      <p:sp>
        <p:nvSpPr>
          <p:cNvPr id="28" name="Shape 25"/>
          <p:cNvSpPr/>
          <p:nvPr/>
        </p:nvSpPr>
        <p:spPr>
          <a:xfrm>
            <a:off x="6949440" y="5166360"/>
            <a:ext cx="457200" cy="457200"/>
          </a:xfrm>
          <a:prstGeom prst="ellipse">
            <a:avLst/>
          </a:prstGeom>
          <a:solidFill>
            <a:srgbClr val="F28C2B"/>
          </a:solidFill>
          <a:ln/>
        </p:spPr>
        <p:txBody>
          <a:bodyPr/>
          <a:lstStyle/>
          <a:p>
            <a:endParaRPr lang="pt-BR"/>
          </a:p>
        </p:txBody>
      </p:sp>
      <p:sp>
        <p:nvSpPr>
          <p:cNvPr id="29" name="Text 26"/>
          <p:cNvSpPr/>
          <p:nvPr/>
        </p:nvSpPr>
        <p:spPr>
          <a:xfrm>
            <a:off x="6949440" y="5166360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</a:t>
            </a:r>
            <a:endParaRPr lang="en-US" sz="2000" dirty="0"/>
          </a:p>
        </p:txBody>
      </p:sp>
      <p:sp>
        <p:nvSpPr>
          <p:cNvPr id="30" name="Text 27"/>
          <p:cNvSpPr/>
          <p:nvPr/>
        </p:nvSpPr>
        <p:spPr>
          <a:xfrm>
            <a:off x="7589520" y="5166360"/>
            <a:ext cx="3931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000" dirty="0">
                <a:solidFill>
                  <a:srgbClr val="0B1D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E-mail</a:t>
            </a:r>
            <a:endParaRPr lang="en-US" sz="2000" dirty="0"/>
          </a:p>
        </p:txBody>
      </p:sp>
      <p:sp>
        <p:nvSpPr>
          <p:cNvPr id="31" name="Shape 28"/>
          <p:cNvSpPr/>
          <p:nvPr/>
        </p:nvSpPr>
        <p:spPr>
          <a:xfrm>
            <a:off x="6949440" y="5943600"/>
            <a:ext cx="457200" cy="457200"/>
          </a:xfrm>
          <a:prstGeom prst="ellipse">
            <a:avLst/>
          </a:prstGeom>
          <a:solidFill>
            <a:srgbClr val="F28C2B"/>
          </a:solidFill>
          <a:ln/>
        </p:spPr>
        <p:txBody>
          <a:bodyPr/>
          <a:lstStyle/>
          <a:p>
            <a:endParaRPr lang="pt-BR"/>
          </a:p>
        </p:txBody>
      </p:sp>
      <p:sp>
        <p:nvSpPr>
          <p:cNvPr id="32" name="Text 29"/>
          <p:cNvSpPr/>
          <p:nvPr/>
        </p:nvSpPr>
        <p:spPr>
          <a:xfrm>
            <a:off x="6949440" y="5943600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</a:t>
            </a:r>
            <a:endParaRPr lang="en-US" sz="2000" dirty="0"/>
          </a:p>
        </p:txBody>
      </p:sp>
      <p:sp>
        <p:nvSpPr>
          <p:cNvPr id="33" name="Text 30"/>
          <p:cNvSpPr/>
          <p:nvPr/>
        </p:nvSpPr>
        <p:spPr>
          <a:xfrm>
            <a:off x="7589520" y="5943600"/>
            <a:ext cx="3931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000" dirty="0">
                <a:solidFill>
                  <a:srgbClr val="0B1D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Pessoa recebe o resultado</a:t>
            </a:r>
            <a:endParaRPr lang="en-US" sz="2000" dirty="0"/>
          </a:p>
        </p:txBody>
      </p:sp>
      <p:sp>
        <p:nvSpPr>
          <p:cNvPr id="34" name="Shape 31"/>
          <p:cNvSpPr/>
          <p:nvPr/>
        </p:nvSpPr>
        <p:spPr>
          <a:xfrm>
            <a:off x="5760720" y="3063240"/>
            <a:ext cx="914400" cy="0"/>
          </a:xfrm>
          <a:prstGeom prst="line">
            <a:avLst/>
          </a:prstGeom>
          <a:noFill/>
          <a:ln w="25400">
            <a:solidFill>
              <a:srgbClr val="0B1D3A"/>
            </a:solidFill>
            <a:prstDash val="solid"/>
            <a:tailEnd type="triangle"/>
          </a:ln>
        </p:spPr>
        <p:txBody>
          <a:bodyPr/>
          <a:lstStyle/>
          <a:p>
            <a:endParaRPr lang="pt-BR"/>
          </a:p>
        </p:txBody>
      </p:sp>
      <p:sp>
        <p:nvSpPr>
          <p:cNvPr id="35" name="Shape 32"/>
          <p:cNvSpPr/>
          <p:nvPr/>
        </p:nvSpPr>
        <p:spPr>
          <a:xfrm>
            <a:off x="5760720" y="5943600"/>
            <a:ext cx="914400" cy="0"/>
          </a:xfrm>
          <a:prstGeom prst="line">
            <a:avLst/>
          </a:prstGeom>
          <a:noFill/>
          <a:ln w="25400">
            <a:solidFill>
              <a:srgbClr val="0B1D3A"/>
            </a:solidFill>
            <a:prstDash val="solid"/>
            <a:tailEnd type="triangle"/>
          </a:ln>
        </p:spPr>
        <p:txBody>
          <a:bodyPr/>
          <a:lstStyle/>
          <a:p>
            <a:endParaRPr lang="pt-BR"/>
          </a:p>
        </p:txBody>
      </p:sp>
      <p:sp>
        <p:nvSpPr>
          <p:cNvPr id="36" name="Shape 33"/>
          <p:cNvSpPr/>
          <p:nvPr/>
        </p:nvSpPr>
        <p:spPr>
          <a:xfrm>
            <a:off x="5760720" y="3063240"/>
            <a:ext cx="0" cy="2880360"/>
          </a:xfrm>
          <a:prstGeom prst="line">
            <a:avLst/>
          </a:prstGeom>
          <a:noFill/>
          <a:ln w="25400">
            <a:solidFill>
              <a:srgbClr val="0B1D3A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B1D3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02920" y="384048"/>
            <a:ext cx="1234440" cy="585216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10607040" y="411480"/>
            <a:ext cx="10972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1600" dirty="0">
                <a:solidFill>
                  <a:srgbClr val="D1D5D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05</a:t>
            </a:r>
            <a:endParaRPr lang="en-US" sz="1600" dirty="0"/>
          </a:p>
        </p:txBody>
      </p:sp>
      <p:sp>
        <p:nvSpPr>
          <p:cNvPr id="4" name="Text 1"/>
          <p:cNvSpPr/>
          <p:nvPr/>
        </p:nvSpPr>
        <p:spPr>
          <a:xfrm>
            <a:off x="502920" y="1234440"/>
            <a:ext cx="1115568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4000" kern="0" spc="-50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HOJE VAMOS CONSTRUIR UM ROBÔ</a:t>
            </a:r>
            <a:endParaRPr lang="en-US" sz="4000" dirty="0"/>
          </a:p>
        </p:txBody>
      </p:sp>
      <p:sp>
        <p:nvSpPr>
          <p:cNvPr id="5" name="Text 2"/>
          <p:cNvSpPr/>
          <p:nvPr/>
        </p:nvSpPr>
        <p:spPr>
          <a:xfrm>
            <a:off x="502920" y="2148840"/>
            <a:ext cx="100584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F28C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Desafio: </a:t>
            </a:r>
            <a:r>
              <a:rPr lang="en-US" sz="22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consultar automaticamente a </a:t>
            </a:r>
            <a:r>
              <a:rPr lang="en-US" sz="2200" b="1" dirty="0">
                <a:solidFill>
                  <a:srgbClr val="F28C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SELIC </a:t>
            </a:r>
            <a:r>
              <a:rPr lang="en-US" sz="22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utilizando a API oficial do Banco Central.</a:t>
            </a:r>
            <a:endParaRPr lang="en-US" sz="2200" dirty="0"/>
          </a:p>
        </p:txBody>
      </p:sp>
      <p:sp>
        <p:nvSpPr>
          <p:cNvPr id="6" name="Text 3"/>
          <p:cNvSpPr/>
          <p:nvPr/>
        </p:nvSpPr>
        <p:spPr>
          <a:xfrm>
            <a:off x="502920" y="301752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900" b="1" dirty="0">
                <a:solidFill>
                  <a:srgbClr val="F28C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Fluxo:</a:t>
            </a:r>
            <a:endParaRPr lang="en-US" sz="1900" dirty="0"/>
          </a:p>
        </p:txBody>
      </p:sp>
      <p:sp>
        <p:nvSpPr>
          <p:cNvPr id="7" name="Shape 4"/>
          <p:cNvSpPr/>
          <p:nvPr/>
        </p:nvSpPr>
        <p:spPr>
          <a:xfrm>
            <a:off x="685800" y="3566160"/>
            <a:ext cx="1371600" cy="1371600"/>
          </a:xfrm>
          <a:prstGeom prst="roundRect">
            <a:avLst>
              <a:gd name="adj" fmla="val 13333"/>
            </a:avLst>
          </a:prstGeom>
          <a:solidFill>
            <a:srgbClr val="12294F"/>
          </a:solidFill>
          <a:ln/>
        </p:spPr>
        <p:txBody>
          <a:bodyPr/>
          <a:lstStyle/>
          <a:p>
            <a:endParaRPr lang="pt-BR"/>
          </a:p>
        </p:txBody>
      </p:sp>
      <p:sp>
        <p:nvSpPr>
          <p:cNvPr id="8" name="Text 5"/>
          <p:cNvSpPr/>
          <p:nvPr/>
        </p:nvSpPr>
        <p:spPr>
          <a:xfrm>
            <a:off x="685800" y="3931920"/>
            <a:ext cx="13716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200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API</a:t>
            </a:r>
            <a:endParaRPr lang="en-US" sz="2200" dirty="0"/>
          </a:p>
        </p:txBody>
      </p:sp>
      <p:sp>
        <p:nvSpPr>
          <p:cNvPr id="9" name="Text 6"/>
          <p:cNvSpPr/>
          <p:nvPr/>
        </p:nvSpPr>
        <p:spPr>
          <a:xfrm>
            <a:off x="411480" y="5029200"/>
            <a:ext cx="19202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700" dirty="0">
                <a:solidFill>
                  <a:srgbClr val="D1D5D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API do BACEN</a:t>
            </a:r>
            <a:endParaRPr lang="en-US" sz="1700" dirty="0"/>
          </a:p>
        </p:txBody>
      </p:sp>
      <p:sp>
        <p:nvSpPr>
          <p:cNvPr id="10" name="Shape 7"/>
          <p:cNvSpPr/>
          <p:nvPr/>
        </p:nvSpPr>
        <p:spPr>
          <a:xfrm>
            <a:off x="2240280" y="4251960"/>
            <a:ext cx="822960" cy="0"/>
          </a:xfrm>
          <a:prstGeom prst="line">
            <a:avLst/>
          </a:prstGeom>
          <a:noFill/>
          <a:ln w="31750">
            <a:solidFill>
              <a:srgbClr val="F28C2B"/>
            </a:solidFill>
            <a:prstDash val="solid"/>
            <a:tailEnd type="triangle"/>
          </a:ln>
        </p:spPr>
        <p:txBody>
          <a:bodyPr/>
          <a:lstStyle/>
          <a:p>
            <a:endParaRPr lang="pt-BR"/>
          </a:p>
        </p:txBody>
      </p:sp>
      <p:sp>
        <p:nvSpPr>
          <p:cNvPr id="11" name="Shape 8"/>
          <p:cNvSpPr/>
          <p:nvPr/>
        </p:nvSpPr>
        <p:spPr>
          <a:xfrm>
            <a:off x="3337560" y="3566160"/>
            <a:ext cx="1371600" cy="1371600"/>
          </a:xfrm>
          <a:prstGeom prst="roundRect">
            <a:avLst>
              <a:gd name="adj" fmla="val 13333"/>
            </a:avLst>
          </a:prstGeom>
          <a:solidFill>
            <a:srgbClr val="12294F"/>
          </a:solidFill>
          <a:ln/>
        </p:spPr>
        <p:txBody>
          <a:bodyPr/>
          <a:lstStyle/>
          <a:p>
            <a:endParaRPr lang="pt-BR"/>
          </a:p>
        </p:txBody>
      </p:sp>
      <p:sp>
        <p:nvSpPr>
          <p:cNvPr id="12" name="Text 9"/>
          <p:cNvSpPr/>
          <p:nvPr/>
        </p:nvSpPr>
        <p:spPr>
          <a:xfrm>
            <a:off x="3337560" y="3931920"/>
            <a:ext cx="13716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200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Py</a:t>
            </a:r>
            <a:endParaRPr lang="en-US" sz="2200" dirty="0"/>
          </a:p>
        </p:txBody>
      </p:sp>
      <p:sp>
        <p:nvSpPr>
          <p:cNvPr id="13" name="Text 10"/>
          <p:cNvSpPr/>
          <p:nvPr/>
        </p:nvSpPr>
        <p:spPr>
          <a:xfrm>
            <a:off x="3063240" y="5029200"/>
            <a:ext cx="19202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700" dirty="0">
                <a:solidFill>
                  <a:srgbClr val="D1D5D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Python</a:t>
            </a:r>
            <a:endParaRPr lang="en-US" sz="1700" dirty="0"/>
          </a:p>
        </p:txBody>
      </p:sp>
      <p:sp>
        <p:nvSpPr>
          <p:cNvPr id="14" name="Shape 11"/>
          <p:cNvSpPr/>
          <p:nvPr/>
        </p:nvSpPr>
        <p:spPr>
          <a:xfrm>
            <a:off x="4892040" y="4251960"/>
            <a:ext cx="822960" cy="0"/>
          </a:xfrm>
          <a:prstGeom prst="line">
            <a:avLst/>
          </a:prstGeom>
          <a:noFill/>
          <a:ln w="31750">
            <a:solidFill>
              <a:srgbClr val="F28C2B"/>
            </a:solidFill>
            <a:prstDash val="solid"/>
            <a:tailEnd type="triangle"/>
          </a:ln>
        </p:spPr>
        <p:txBody>
          <a:bodyPr/>
          <a:lstStyle/>
          <a:p>
            <a:endParaRPr lang="pt-BR"/>
          </a:p>
        </p:txBody>
      </p:sp>
      <p:sp>
        <p:nvSpPr>
          <p:cNvPr id="15" name="Shape 12"/>
          <p:cNvSpPr/>
          <p:nvPr/>
        </p:nvSpPr>
        <p:spPr>
          <a:xfrm>
            <a:off x="5989320" y="3566160"/>
            <a:ext cx="1371600" cy="1371600"/>
          </a:xfrm>
          <a:prstGeom prst="roundRect">
            <a:avLst>
              <a:gd name="adj" fmla="val 13333"/>
            </a:avLst>
          </a:prstGeom>
          <a:solidFill>
            <a:srgbClr val="12294F"/>
          </a:solidFill>
          <a:ln/>
        </p:spPr>
        <p:txBody>
          <a:bodyPr/>
          <a:lstStyle/>
          <a:p>
            <a:endParaRPr lang="pt-BR"/>
          </a:p>
        </p:txBody>
      </p:sp>
      <p:sp>
        <p:nvSpPr>
          <p:cNvPr id="16" name="Text 13"/>
          <p:cNvSpPr/>
          <p:nvPr/>
        </p:nvSpPr>
        <p:spPr>
          <a:xfrm>
            <a:off x="5989320" y="3931920"/>
            <a:ext cx="13716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200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XLS</a:t>
            </a:r>
            <a:endParaRPr lang="en-US" sz="2200" dirty="0"/>
          </a:p>
        </p:txBody>
      </p:sp>
      <p:sp>
        <p:nvSpPr>
          <p:cNvPr id="17" name="Text 14"/>
          <p:cNvSpPr/>
          <p:nvPr/>
        </p:nvSpPr>
        <p:spPr>
          <a:xfrm>
            <a:off x="5715000" y="5029200"/>
            <a:ext cx="19202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700" dirty="0">
                <a:solidFill>
                  <a:srgbClr val="D1D5D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Excel</a:t>
            </a:r>
            <a:endParaRPr lang="en-US" sz="1700" dirty="0"/>
          </a:p>
        </p:txBody>
      </p:sp>
      <p:sp>
        <p:nvSpPr>
          <p:cNvPr id="18" name="Shape 15"/>
          <p:cNvSpPr/>
          <p:nvPr/>
        </p:nvSpPr>
        <p:spPr>
          <a:xfrm>
            <a:off x="7543800" y="4251960"/>
            <a:ext cx="822960" cy="0"/>
          </a:xfrm>
          <a:prstGeom prst="line">
            <a:avLst/>
          </a:prstGeom>
          <a:noFill/>
          <a:ln w="31750">
            <a:solidFill>
              <a:srgbClr val="F28C2B"/>
            </a:solidFill>
            <a:prstDash val="solid"/>
            <a:tailEnd type="triangle"/>
          </a:ln>
        </p:spPr>
        <p:txBody>
          <a:bodyPr/>
          <a:lstStyle/>
          <a:p>
            <a:endParaRPr lang="pt-BR"/>
          </a:p>
        </p:txBody>
      </p:sp>
      <p:sp>
        <p:nvSpPr>
          <p:cNvPr id="19" name="Shape 16"/>
          <p:cNvSpPr/>
          <p:nvPr/>
        </p:nvSpPr>
        <p:spPr>
          <a:xfrm>
            <a:off x="8641080" y="3566160"/>
            <a:ext cx="1371600" cy="1371600"/>
          </a:xfrm>
          <a:prstGeom prst="roundRect">
            <a:avLst>
              <a:gd name="adj" fmla="val 13333"/>
            </a:avLst>
          </a:prstGeom>
          <a:solidFill>
            <a:srgbClr val="12294F"/>
          </a:solidFill>
          <a:ln/>
        </p:spPr>
        <p:txBody>
          <a:bodyPr/>
          <a:lstStyle/>
          <a:p>
            <a:endParaRPr lang="pt-BR"/>
          </a:p>
        </p:txBody>
      </p:sp>
      <p:sp>
        <p:nvSpPr>
          <p:cNvPr id="20" name="Text 17"/>
          <p:cNvSpPr/>
          <p:nvPr/>
        </p:nvSpPr>
        <p:spPr>
          <a:xfrm>
            <a:off x="8641080" y="3931920"/>
            <a:ext cx="13716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200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▲</a:t>
            </a:r>
            <a:endParaRPr lang="en-US" sz="2200" dirty="0"/>
          </a:p>
        </p:txBody>
      </p:sp>
      <p:sp>
        <p:nvSpPr>
          <p:cNvPr id="21" name="Text 18"/>
          <p:cNvSpPr/>
          <p:nvPr/>
        </p:nvSpPr>
        <p:spPr>
          <a:xfrm>
            <a:off x="8366760" y="5029200"/>
            <a:ext cx="19202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700" dirty="0">
                <a:solidFill>
                  <a:srgbClr val="D1D5D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Relatório</a:t>
            </a:r>
            <a:endParaRPr lang="en-US" sz="1700" dirty="0"/>
          </a:p>
        </p:txBody>
      </p:sp>
      <p:sp>
        <p:nvSpPr>
          <p:cNvPr id="22" name="Text 19"/>
          <p:cNvSpPr/>
          <p:nvPr/>
        </p:nvSpPr>
        <p:spPr>
          <a:xfrm>
            <a:off x="502920" y="5897880"/>
            <a:ext cx="10058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Dados oficiais, públicos e </a:t>
            </a:r>
            <a:r>
              <a:rPr lang="en-US" sz="2100" b="1" dirty="0">
                <a:solidFill>
                  <a:srgbClr val="F28C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100% gratuitos.</a:t>
            </a:r>
            <a:endParaRPr lang="en-US" sz="21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02920" y="384048"/>
            <a:ext cx="1234440" cy="585216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10607040" y="411480"/>
            <a:ext cx="10972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1600" dirty="0">
                <a:solidFill>
                  <a:srgbClr val="8A93A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06</a:t>
            </a:r>
            <a:endParaRPr lang="en-US" sz="1600" dirty="0"/>
          </a:p>
        </p:txBody>
      </p:sp>
      <p:sp>
        <p:nvSpPr>
          <p:cNvPr id="4" name="Text 1"/>
          <p:cNvSpPr/>
          <p:nvPr/>
        </p:nvSpPr>
        <p:spPr>
          <a:xfrm>
            <a:off x="502920" y="1234440"/>
            <a:ext cx="1115568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4000" kern="0" spc="-50" dirty="0">
                <a:solidFill>
                  <a:srgbClr val="0B1D3A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O PROMPT (IA GRATUITA)</a:t>
            </a:r>
            <a:endParaRPr lang="en-US" sz="4000" dirty="0"/>
          </a:p>
        </p:txBody>
      </p:sp>
      <p:sp>
        <p:nvSpPr>
          <p:cNvPr id="5" name="Shape 2"/>
          <p:cNvSpPr/>
          <p:nvPr/>
        </p:nvSpPr>
        <p:spPr>
          <a:xfrm>
            <a:off x="685800" y="2103120"/>
            <a:ext cx="10789920" cy="3566160"/>
          </a:xfrm>
          <a:prstGeom prst="roundRect">
            <a:avLst>
              <a:gd name="adj" fmla="val 2564"/>
            </a:avLst>
          </a:prstGeom>
          <a:solidFill>
            <a:srgbClr val="EEF3FB"/>
          </a:solidFill>
          <a:ln w="19050">
            <a:solidFill>
              <a:srgbClr val="1D4ED8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6" name="Text 3"/>
          <p:cNvSpPr/>
          <p:nvPr/>
        </p:nvSpPr>
        <p:spPr>
          <a:xfrm>
            <a:off x="1051560" y="2377440"/>
            <a:ext cx="10058400" cy="868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000" i="1" dirty="0">
                <a:solidFill>
                  <a:srgbClr val="0B1D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"Crie um script em Python que consulte a API pública do Banco Central do Brasil (SGS) e obtenha a série 1178 (Selic anualizada base 252) dos últimos 30 dias.</a:t>
            </a:r>
            <a:endParaRPr lang="en-US" sz="2000" dirty="0"/>
          </a:p>
        </p:txBody>
      </p:sp>
      <p:sp>
        <p:nvSpPr>
          <p:cNvPr id="7" name="Text 4"/>
          <p:cNvSpPr/>
          <p:nvPr/>
        </p:nvSpPr>
        <p:spPr>
          <a:xfrm>
            <a:off x="1051560" y="3337560"/>
            <a:ext cx="10058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000" b="1" dirty="0">
                <a:solidFill>
                  <a:srgbClr val="0B1D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 programa deve:</a:t>
            </a:r>
            <a:endParaRPr lang="en-US" sz="2000" dirty="0"/>
          </a:p>
        </p:txBody>
      </p:sp>
      <p:sp>
        <p:nvSpPr>
          <p:cNvPr id="8" name="Text 5"/>
          <p:cNvSpPr/>
          <p:nvPr/>
        </p:nvSpPr>
        <p:spPr>
          <a:xfrm>
            <a:off x="1234440" y="3794760"/>
            <a:ext cx="987552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900" dirty="0">
                <a:solidFill>
                  <a:srgbClr val="0B1D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 Tratar erros de conexão e ausência de dados</a:t>
            </a:r>
            <a:endParaRPr lang="en-US" sz="1900" dirty="0"/>
          </a:p>
        </p:txBody>
      </p:sp>
      <p:sp>
        <p:nvSpPr>
          <p:cNvPr id="9" name="Text 6"/>
          <p:cNvSpPr/>
          <p:nvPr/>
        </p:nvSpPr>
        <p:spPr>
          <a:xfrm>
            <a:off x="1234440" y="4233672"/>
            <a:ext cx="987552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900" dirty="0">
                <a:solidFill>
                  <a:srgbClr val="0B1D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 Gerar uma planilha Excel com os dados</a:t>
            </a:r>
            <a:endParaRPr lang="en-US" sz="1900" dirty="0"/>
          </a:p>
        </p:txBody>
      </p:sp>
      <p:sp>
        <p:nvSpPr>
          <p:cNvPr id="10" name="Text 7"/>
          <p:cNvSpPr/>
          <p:nvPr/>
        </p:nvSpPr>
        <p:spPr>
          <a:xfrm>
            <a:off x="1234440" y="4672584"/>
            <a:ext cx="987552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900" dirty="0">
                <a:solidFill>
                  <a:srgbClr val="0B1D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 Criar um gráfico da evolução da Selic</a:t>
            </a:r>
            <a:endParaRPr lang="en-US" sz="1900" dirty="0"/>
          </a:p>
        </p:txBody>
      </p:sp>
      <p:sp>
        <p:nvSpPr>
          <p:cNvPr id="11" name="Text 8"/>
          <p:cNvSpPr/>
          <p:nvPr/>
        </p:nvSpPr>
        <p:spPr>
          <a:xfrm>
            <a:off x="1234440" y="5111496"/>
            <a:ext cx="987552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900" dirty="0">
                <a:solidFill>
                  <a:srgbClr val="0B1D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 Mostrar um resumo executivo da variação no período"</a:t>
            </a:r>
            <a:endParaRPr lang="en-US" sz="1900" dirty="0"/>
          </a:p>
        </p:txBody>
      </p:sp>
      <p:sp>
        <p:nvSpPr>
          <p:cNvPr id="12" name="Text 9"/>
          <p:cNvSpPr/>
          <p:nvPr/>
        </p:nvSpPr>
        <p:spPr>
          <a:xfrm>
            <a:off x="685800" y="5897880"/>
            <a:ext cx="10789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100" b="1" dirty="0">
                <a:solidFill>
                  <a:srgbClr val="0B1D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</a:t>
            </a:r>
            <a:r>
              <a:rPr lang="en-US" sz="2100" b="1" dirty="0">
                <a:solidFill>
                  <a:srgbClr val="F375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IA gratuita </a:t>
            </a:r>
            <a:r>
              <a:rPr lang="en-US" sz="2100" b="1" dirty="0">
                <a:solidFill>
                  <a:srgbClr val="0B1D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escreve o código para você.</a:t>
            </a:r>
            <a:endParaRPr lang="en-US" sz="21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B1D3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02920" y="384048"/>
            <a:ext cx="1234440" cy="585216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10607040" y="411480"/>
            <a:ext cx="10972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1600" dirty="0">
                <a:solidFill>
                  <a:srgbClr val="D1D5D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07</a:t>
            </a:r>
            <a:endParaRPr lang="en-US" sz="1600" dirty="0"/>
          </a:p>
        </p:txBody>
      </p:sp>
      <p:sp>
        <p:nvSpPr>
          <p:cNvPr id="4" name="Text 1"/>
          <p:cNvSpPr/>
          <p:nvPr/>
        </p:nvSpPr>
        <p:spPr>
          <a:xfrm>
            <a:off x="502920" y="1234440"/>
            <a:ext cx="1115568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4000" kern="0" spc="-50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EXECUTANDO O ROBÔ</a:t>
            </a:r>
            <a:endParaRPr lang="en-US" sz="4000" dirty="0"/>
          </a:p>
        </p:txBody>
      </p:sp>
      <p:sp>
        <p:nvSpPr>
          <p:cNvPr id="5" name="Shape 2"/>
          <p:cNvSpPr/>
          <p:nvPr/>
        </p:nvSpPr>
        <p:spPr>
          <a:xfrm>
            <a:off x="685800" y="2194560"/>
            <a:ext cx="6766560" cy="3749040"/>
          </a:xfrm>
          <a:prstGeom prst="roundRect">
            <a:avLst>
              <a:gd name="adj" fmla="val 1951"/>
            </a:avLst>
          </a:prstGeom>
          <a:solidFill>
            <a:srgbClr val="0F2247"/>
          </a:solidFill>
          <a:ln w="12700">
            <a:solidFill>
              <a:srgbClr val="1E3A6B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6" name="Text 3"/>
          <p:cNvSpPr/>
          <p:nvPr/>
        </p:nvSpPr>
        <p:spPr>
          <a:xfrm>
            <a:off x="960120" y="2468880"/>
            <a:ext cx="630936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500" dirty="0">
                <a:solidFill>
                  <a:srgbClr val="D1D5D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$ python robo_selic.py</a:t>
            </a:r>
            <a:endParaRPr lang="en-US" sz="1500" dirty="0"/>
          </a:p>
        </p:txBody>
      </p:sp>
      <p:sp>
        <p:nvSpPr>
          <p:cNvPr id="7" name="Text 4"/>
          <p:cNvSpPr/>
          <p:nvPr/>
        </p:nvSpPr>
        <p:spPr>
          <a:xfrm>
            <a:off x="960120" y="2798064"/>
            <a:ext cx="630936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500" dirty="0">
                <a:solidFill>
                  <a:srgbClr val="D1D5D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Consultando Banco Central...</a:t>
            </a:r>
            <a:endParaRPr lang="en-US" sz="1500" dirty="0"/>
          </a:p>
        </p:txBody>
      </p:sp>
      <p:sp>
        <p:nvSpPr>
          <p:cNvPr id="8" name="Text 5"/>
          <p:cNvSpPr/>
          <p:nvPr/>
        </p:nvSpPr>
        <p:spPr>
          <a:xfrm>
            <a:off x="960120" y="3127248"/>
            <a:ext cx="630936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500" dirty="0">
                <a:solidFill>
                  <a:srgbClr val="4ADE8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✔ Dados obtidos com sucesso!</a:t>
            </a:r>
            <a:endParaRPr lang="en-US" sz="1500" dirty="0"/>
          </a:p>
        </p:txBody>
      </p:sp>
      <p:sp>
        <p:nvSpPr>
          <p:cNvPr id="9" name="Text 6"/>
          <p:cNvSpPr/>
          <p:nvPr/>
        </p:nvSpPr>
        <p:spPr>
          <a:xfrm>
            <a:off x="960120" y="3456432"/>
            <a:ext cx="630936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50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Período: 21/05/2026 a 19/06/2026</a:t>
            </a:r>
            <a:endParaRPr lang="en-US" sz="1500" dirty="0"/>
          </a:p>
        </p:txBody>
      </p:sp>
      <p:sp>
        <p:nvSpPr>
          <p:cNvPr id="10" name="Text 7"/>
          <p:cNvSpPr/>
          <p:nvPr/>
        </p:nvSpPr>
        <p:spPr>
          <a:xfrm>
            <a:off x="960120" y="3785616"/>
            <a:ext cx="630936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50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Registros: 30</a:t>
            </a:r>
            <a:endParaRPr lang="en-US" sz="1500" dirty="0"/>
          </a:p>
        </p:txBody>
      </p:sp>
      <p:sp>
        <p:nvSpPr>
          <p:cNvPr id="11" name="Text 8"/>
          <p:cNvSpPr/>
          <p:nvPr/>
        </p:nvSpPr>
        <p:spPr>
          <a:xfrm>
            <a:off x="960120" y="4114800"/>
            <a:ext cx="630936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endParaRPr lang="en-US" sz="1500" dirty="0"/>
          </a:p>
        </p:txBody>
      </p:sp>
      <p:sp>
        <p:nvSpPr>
          <p:cNvPr id="12" name="Text 9"/>
          <p:cNvSpPr/>
          <p:nvPr/>
        </p:nvSpPr>
        <p:spPr>
          <a:xfrm>
            <a:off x="960120" y="4443984"/>
            <a:ext cx="630936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50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Arquivo gerado: SELIC_Ultimos_30_dias.xlsx</a:t>
            </a:r>
            <a:endParaRPr lang="en-US" sz="1500" dirty="0"/>
          </a:p>
        </p:txBody>
      </p:sp>
      <p:sp>
        <p:nvSpPr>
          <p:cNvPr id="13" name="Text 10"/>
          <p:cNvSpPr/>
          <p:nvPr/>
        </p:nvSpPr>
        <p:spPr>
          <a:xfrm>
            <a:off x="960120" y="4773168"/>
            <a:ext cx="630936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50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Gráfico: selic_30_dias.png</a:t>
            </a:r>
            <a:endParaRPr lang="en-US" sz="1500" dirty="0"/>
          </a:p>
        </p:txBody>
      </p:sp>
      <p:sp>
        <p:nvSpPr>
          <p:cNvPr id="14" name="Text 11"/>
          <p:cNvSpPr/>
          <p:nvPr/>
        </p:nvSpPr>
        <p:spPr>
          <a:xfrm>
            <a:off x="960120" y="5102352"/>
            <a:ext cx="630936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endParaRPr lang="en-US" sz="1500" dirty="0"/>
          </a:p>
        </p:txBody>
      </p:sp>
      <p:sp>
        <p:nvSpPr>
          <p:cNvPr id="15" name="Text 12"/>
          <p:cNvSpPr/>
          <p:nvPr/>
        </p:nvSpPr>
        <p:spPr>
          <a:xfrm>
            <a:off x="960120" y="5431536"/>
            <a:ext cx="630936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500" dirty="0">
                <a:solidFill>
                  <a:srgbClr val="F28C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Resumo executivo exibido abaixo</a:t>
            </a:r>
            <a:endParaRPr lang="en-US" sz="1500" dirty="0"/>
          </a:p>
        </p:txBody>
      </p:sp>
      <p:sp>
        <p:nvSpPr>
          <p:cNvPr id="16" name="Shape 13"/>
          <p:cNvSpPr/>
          <p:nvPr/>
        </p:nvSpPr>
        <p:spPr>
          <a:xfrm>
            <a:off x="8321040" y="2788920"/>
            <a:ext cx="2651760" cy="2651760"/>
          </a:xfrm>
          <a:prstGeom prst="ellipse">
            <a:avLst/>
          </a:prstGeom>
          <a:solidFill>
            <a:srgbClr val="0B1D3A"/>
          </a:solidFill>
          <a:ln w="25400">
            <a:solidFill>
              <a:srgbClr val="1D4ED8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17" name="Shape 14"/>
          <p:cNvSpPr/>
          <p:nvPr/>
        </p:nvSpPr>
        <p:spPr>
          <a:xfrm>
            <a:off x="9189720" y="3200400"/>
            <a:ext cx="914400" cy="914400"/>
          </a:xfrm>
          <a:prstGeom prst="ellipse">
            <a:avLst/>
          </a:prstGeom>
          <a:solidFill>
            <a:srgbClr val="1D4ED8"/>
          </a:solidFill>
          <a:ln/>
        </p:spPr>
        <p:txBody>
          <a:bodyPr/>
          <a:lstStyle/>
          <a:p>
            <a:endParaRPr lang="pt-BR"/>
          </a:p>
        </p:txBody>
      </p:sp>
      <p:sp>
        <p:nvSpPr>
          <p:cNvPr id="18" name="Text 15"/>
          <p:cNvSpPr/>
          <p:nvPr/>
        </p:nvSpPr>
        <p:spPr>
          <a:xfrm>
            <a:off x="9189720" y="3200400"/>
            <a:ext cx="9144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✔</a:t>
            </a:r>
            <a:endParaRPr lang="en-US" sz="2600" dirty="0"/>
          </a:p>
        </p:txBody>
      </p:sp>
      <p:sp>
        <p:nvSpPr>
          <p:cNvPr id="19" name="Text 16"/>
          <p:cNvSpPr/>
          <p:nvPr/>
        </p:nvSpPr>
        <p:spPr>
          <a:xfrm>
            <a:off x="8321040" y="4206240"/>
            <a:ext cx="265176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lnSpc>
                <a:spcPts val="2000"/>
              </a:lnSpc>
              <a:buNone/>
            </a:pPr>
            <a:r>
              <a:rPr lang="en-US" sz="1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Robô executado</a:t>
            </a:r>
            <a:endParaRPr lang="en-US" sz="1600" dirty="0"/>
          </a:p>
          <a:p>
            <a:pPr marL="0" indent="0" algn="ctr">
              <a:lnSpc>
                <a:spcPts val="2000"/>
              </a:lnSpc>
              <a:buNone/>
            </a:pPr>
            <a:r>
              <a:rPr lang="en-US" sz="1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 sucesso!</a:t>
            </a:r>
            <a:endParaRPr lang="en-US" sz="16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02920" y="384048"/>
            <a:ext cx="1234440" cy="585216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10607040" y="411480"/>
            <a:ext cx="10972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1600" dirty="0">
                <a:solidFill>
                  <a:srgbClr val="8A93A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08</a:t>
            </a:r>
            <a:endParaRPr lang="en-US" sz="1600" dirty="0"/>
          </a:p>
        </p:txBody>
      </p:sp>
      <p:sp>
        <p:nvSpPr>
          <p:cNvPr id="4" name="Text 1"/>
          <p:cNvSpPr/>
          <p:nvPr/>
        </p:nvSpPr>
        <p:spPr>
          <a:xfrm>
            <a:off x="502920" y="1234440"/>
            <a:ext cx="1115568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4000" kern="0" spc="-50" dirty="0">
                <a:solidFill>
                  <a:srgbClr val="0B1D3A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RESULTADO</a:t>
            </a:r>
            <a:endParaRPr lang="en-US" sz="4000" dirty="0"/>
          </a:p>
        </p:txBody>
      </p:sp>
      <p:sp>
        <p:nvSpPr>
          <p:cNvPr id="5" name="Text 2"/>
          <p:cNvSpPr/>
          <p:nvPr/>
        </p:nvSpPr>
        <p:spPr>
          <a:xfrm>
            <a:off x="685800" y="2103120"/>
            <a:ext cx="4572000" cy="411480"/>
          </a:xfrm>
          <a:prstGeom prst="rect">
            <a:avLst/>
          </a:prstGeom>
          <a:solidFill>
            <a:srgbClr val="E8ECF3"/>
          </a:solidFill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0B1D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SELIC – Últimos 30 dias</a:t>
            </a:r>
            <a:endParaRPr lang="en-US" sz="1600" dirty="0"/>
          </a:p>
        </p:txBody>
      </p:sp>
      <p:graphicFrame>
        <p:nvGraphicFramePr>
          <p:cNvPr id="9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85800" y="2514600"/>
          <a:ext cx="4572000" cy="914400"/>
        </p:xfrm>
        <a:graphic>
          <a:graphicData uri="http://schemas.openxmlformats.org/drawingml/2006/table">
            <a:tbl>
              <a:tblPr/>
              <a:tblGrid>
                <a:gridCol w="22860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2860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384048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Data</a:t>
                      </a:r>
                      <a:endParaRPr lang="en-US" sz="15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1D3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Selic (% a.a.)</a:t>
                      </a:r>
                      <a:endParaRPr lang="en-US" sz="15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1D3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84048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500" dirty="0">
                          <a:solidFill>
                            <a:srgbClr val="0B1D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19/06/2026</a:t>
                      </a:r>
                      <a:endParaRPr lang="en-US" sz="15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8FC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500" dirty="0">
                          <a:solidFill>
                            <a:srgbClr val="0B1D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14,75</a:t>
                      </a:r>
                      <a:endParaRPr lang="en-US" sz="15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8F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84048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500" dirty="0">
                          <a:solidFill>
                            <a:srgbClr val="0B1D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18/06/2026</a:t>
                      </a:r>
                      <a:endParaRPr lang="en-US" sz="15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500" dirty="0">
                          <a:solidFill>
                            <a:srgbClr val="0B1D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14,75</a:t>
                      </a:r>
                      <a:endParaRPr lang="en-US" sz="15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84048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500" dirty="0">
                          <a:solidFill>
                            <a:srgbClr val="0B1D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17/06/2026</a:t>
                      </a:r>
                      <a:endParaRPr lang="en-US" sz="15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8FC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500" dirty="0">
                          <a:solidFill>
                            <a:srgbClr val="0B1D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14,75</a:t>
                      </a:r>
                      <a:endParaRPr lang="en-US" sz="15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8F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384048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500" dirty="0">
                          <a:solidFill>
                            <a:srgbClr val="0B1D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16/06/2026</a:t>
                      </a:r>
                      <a:endParaRPr lang="en-US" sz="15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500" dirty="0">
                          <a:solidFill>
                            <a:srgbClr val="0B1D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14,75</a:t>
                      </a:r>
                      <a:endParaRPr lang="en-US" sz="15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384048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500" dirty="0">
                          <a:solidFill>
                            <a:srgbClr val="0B1D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13/06/2026</a:t>
                      </a:r>
                      <a:endParaRPr lang="en-US" sz="15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8FC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500" dirty="0">
                          <a:solidFill>
                            <a:srgbClr val="0B1D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14,75</a:t>
                      </a:r>
                      <a:endParaRPr lang="en-US" sz="15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8F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384048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500" dirty="0">
                          <a:solidFill>
                            <a:srgbClr val="0B1D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12/06/2026</a:t>
                      </a:r>
                      <a:endParaRPr lang="en-US" sz="15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500" dirty="0">
                          <a:solidFill>
                            <a:srgbClr val="0B1D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14,75</a:t>
                      </a:r>
                      <a:endParaRPr lang="en-US" sz="15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384048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500" dirty="0">
                          <a:solidFill>
                            <a:srgbClr val="0B1D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21/05/2026</a:t>
                      </a:r>
                      <a:endParaRPr lang="en-US" sz="15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8FC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500" dirty="0">
                          <a:solidFill>
                            <a:srgbClr val="0B1D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14,50</a:t>
                      </a:r>
                      <a:endParaRPr lang="en-US" sz="15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8F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</a:tbl>
          </a:graphicData>
        </a:graphic>
      </p:graphicFrame>
      <p:sp>
        <p:nvSpPr>
          <p:cNvPr id="7" name="Text 3"/>
          <p:cNvSpPr/>
          <p:nvPr/>
        </p:nvSpPr>
        <p:spPr>
          <a:xfrm>
            <a:off x="5852160" y="2103120"/>
            <a:ext cx="56692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0B1D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Evolução da Selic (% a.a.)</a:t>
            </a:r>
            <a:endParaRPr lang="en-US" sz="1600" dirty="0"/>
          </a:p>
          <a:p>
            <a:pPr marL="0" indent="0" algn="ctr">
              <a:buNone/>
            </a:pPr>
            <a:r>
              <a:rPr lang="en-US" sz="1600" b="1" dirty="0">
                <a:solidFill>
                  <a:srgbClr val="0B1D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Últimos 30 dias</a:t>
            </a:r>
            <a:endParaRPr lang="en-US" sz="1600" dirty="0"/>
          </a:p>
        </p:txBody>
      </p:sp>
      <p:graphicFrame>
        <p:nvGraphicFramePr>
          <p:cNvPr id="8" name="Chart 0"/>
          <p:cNvGraphicFramePr/>
          <p:nvPr/>
        </p:nvGraphicFramePr>
        <p:xfrm>
          <a:off x="5852160" y="2697480"/>
          <a:ext cx="5669280" cy="329184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4"/>
          </a:graphicData>
        </a:graphic>
      </p:graphicFrame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0B1D3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02920" y="384048"/>
            <a:ext cx="1234440" cy="585216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10607040" y="411480"/>
            <a:ext cx="10972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1600" dirty="0">
                <a:solidFill>
                  <a:srgbClr val="D1D5D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09</a:t>
            </a:r>
            <a:endParaRPr lang="en-US" sz="1600" dirty="0"/>
          </a:p>
        </p:txBody>
      </p:sp>
      <p:sp>
        <p:nvSpPr>
          <p:cNvPr id="4" name="Text 1"/>
          <p:cNvSpPr/>
          <p:nvPr/>
        </p:nvSpPr>
        <p:spPr>
          <a:xfrm>
            <a:off x="502920" y="1234440"/>
            <a:ext cx="1115568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4000" kern="0" spc="-50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RESUMO EXECUTIVO</a:t>
            </a:r>
            <a:endParaRPr lang="en-US" sz="4000" dirty="0"/>
          </a:p>
        </p:txBody>
      </p:sp>
      <p:sp>
        <p:nvSpPr>
          <p:cNvPr id="5" name="Shape 2"/>
          <p:cNvSpPr/>
          <p:nvPr/>
        </p:nvSpPr>
        <p:spPr>
          <a:xfrm>
            <a:off x="502920" y="2148840"/>
            <a:ext cx="6035040" cy="713232"/>
          </a:xfrm>
          <a:prstGeom prst="roundRect">
            <a:avLst>
              <a:gd name="adj" fmla="val 10256"/>
            </a:avLst>
          </a:prstGeom>
          <a:solidFill>
            <a:srgbClr val="12294F"/>
          </a:solidFill>
          <a:ln w="12700">
            <a:solidFill>
              <a:srgbClr val="1E3A6B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6" name="Shape 3"/>
          <p:cNvSpPr/>
          <p:nvPr/>
        </p:nvSpPr>
        <p:spPr>
          <a:xfrm>
            <a:off x="502920" y="2148840"/>
            <a:ext cx="82296" cy="713232"/>
          </a:xfrm>
          <a:prstGeom prst="rect">
            <a:avLst/>
          </a:prstGeom>
          <a:solidFill>
            <a:srgbClr val="F28C2B"/>
          </a:solidFill>
          <a:ln/>
        </p:spPr>
        <p:txBody>
          <a:bodyPr/>
          <a:lstStyle/>
          <a:p>
            <a:endParaRPr lang="pt-BR"/>
          </a:p>
        </p:txBody>
      </p:sp>
      <p:sp>
        <p:nvSpPr>
          <p:cNvPr id="7" name="Text 4"/>
          <p:cNvSpPr/>
          <p:nvPr/>
        </p:nvSpPr>
        <p:spPr>
          <a:xfrm>
            <a:off x="777240" y="2194560"/>
            <a:ext cx="54864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D1D5D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Primeiro valor (21/05/2026)</a:t>
            </a:r>
            <a:endParaRPr lang="en-US" sz="1400" dirty="0"/>
          </a:p>
        </p:txBody>
      </p:sp>
      <p:sp>
        <p:nvSpPr>
          <p:cNvPr id="8" name="Text 5"/>
          <p:cNvSpPr/>
          <p:nvPr/>
        </p:nvSpPr>
        <p:spPr>
          <a:xfrm>
            <a:off x="777240" y="2468880"/>
            <a:ext cx="548640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14,50%</a:t>
            </a:r>
            <a:endParaRPr lang="en-US" sz="1900" dirty="0"/>
          </a:p>
        </p:txBody>
      </p:sp>
      <p:sp>
        <p:nvSpPr>
          <p:cNvPr id="9" name="Shape 6"/>
          <p:cNvSpPr/>
          <p:nvPr/>
        </p:nvSpPr>
        <p:spPr>
          <a:xfrm>
            <a:off x="502920" y="2990088"/>
            <a:ext cx="6035040" cy="713232"/>
          </a:xfrm>
          <a:prstGeom prst="roundRect">
            <a:avLst>
              <a:gd name="adj" fmla="val 10256"/>
            </a:avLst>
          </a:prstGeom>
          <a:solidFill>
            <a:srgbClr val="12294F"/>
          </a:solidFill>
          <a:ln w="12700">
            <a:solidFill>
              <a:srgbClr val="1E3A6B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10" name="Shape 7"/>
          <p:cNvSpPr/>
          <p:nvPr/>
        </p:nvSpPr>
        <p:spPr>
          <a:xfrm>
            <a:off x="502920" y="2990088"/>
            <a:ext cx="82296" cy="713232"/>
          </a:xfrm>
          <a:prstGeom prst="rect">
            <a:avLst/>
          </a:prstGeom>
          <a:solidFill>
            <a:srgbClr val="F28C2B"/>
          </a:solidFill>
          <a:ln/>
        </p:spPr>
        <p:txBody>
          <a:bodyPr/>
          <a:lstStyle/>
          <a:p>
            <a:endParaRPr lang="pt-BR"/>
          </a:p>
        </p:txBody>
      </p:sp>
      <p:sp>
        <p:nvSpPr>
          <p:cNvPr id="11" name="Text 8"/>
          <p:cNvSpPr/>
          <p:nvPr/>
        </p:nvSpPr>
        <p:spPr>
          <a:xfrm>
            <a:off x="777240" y="3035808"/>
            <a:ext cx="54864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D1D5D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Último valor (19/06/2026)</a:t>
            </a:r>
            <a:endParaRPr lang="en-US" sz="1400" dirty="0"/>
          </a:p>
        </p:txBody>
      </p:sp>
      <p:sp>
        <p:nvSpPr>
          <p:cNvPr id="12" name="Text 9"/>
          <p:cNvSpPr/>
          <p:nvPr/>
        </p:nvSpPr>
        <p:spPr>
          <a:xfrm>
            <a:off x="777240" y="3310128"/>
            <a:ext cx="548640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14,75%</a:t>
            </a:r>
            <a:endParaRPr lang="en-US" sz="1900" dirty="0"/>
          </a:p>
        </p:txBody>
      </p:sp>
      <p:sp>
        <p:nvSpPr>
          <p:cNvPr id="13" name="Shape 10"/>
          <p:cNvSpPr/>
          <p:nvPr/>
        </p:nvSpPr>
        <p:spPr>
          <a:xfrm>
            <a:off x="502920" y="3831336"/>
            <a:ext cx="6035040" cy="713232"/>
          </a:xfrm>
          <a:prstGeom prst="roundRect">
            <a:avLst>
              <a:gd name="adj" fmla="val 10256"/>
            </a:avLst>
          </a:prstGeom>
          <a:solidFill>
            <a:srgbClr val="12294F"/>
          </a:solidFill>
          <a:ln w="12700">
            <a:solidFill>
              <a:srgbClr val="1E3A6B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14" name="Shape 11"/>
          <p:cNvSpPr/>
          <p:nvPr/>
        </p:nvSpPr>
        <p:spPr>
          <a:xfrm>
            <a:off x="502920" y="3831336"/>
            <a:ext cx="82296" cy="713232"/>
          </a:xfrm>
          <a:prstGeom prst="rect">
            <a:avLst/>
          </a:prstGeom>
          <a:solidFill>
            <a:srgbClr val="F28C2B"/>
          </a:solidFill>
          <a:ln/>
        </p:spPr>
        <p:txBody>
          <a:bodyPr/>
          <a:lstStyle/>
          <a:p>
            <a:endParaRPr lang="pt-BR"/>
          </a:p>
        </p:txBody>
      </p:sp>
      <p:sp>
        <p:nvSpPr>
          <p:cNvPr id="15" name="Text 12"/>
          <p:cNvSpPr/>
          <p:nvPr/>
        </p:nvSpPr>
        <p:spPr>
          <a:xfrm>
            <a:off x="777240" y="3877056"/>
            <a:ext cx="54864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D1D5D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Variação no período</a:t>
            </a:r>
            <a:endParaRPr lang="en-US" sz="1400" dirty="0"/>
          </a:p>
        </p:txBody>
      </p:sp>
      <p:sp>
        <p:nvSpPr>
          <p:cNvPr id="16" name="Text 13"/>
          <p:cNvSpPr/>
          <p:nvPr/>
        </p:nvSpPr>
        <p:spPr>
          <a:xfrm>
            <a:off x="777240" y="4151376"/>
            <a:ext cx="548640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900" b="1" dirty="0">
                <a:solidFill>
                  <a:srgbClr val="4ADE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+0,25 p.p. (+1,72%)</a:t>
            </a:r>
            <a:endParaRPr lang="en-US" sz="1900" dirty="0"/>
          </a:p>
        </p:txBody>
      </p:sp>
      <p:sp>
        <p:nvSpPr>
          <p:cNvPr id="17" name="Shape 14"/>
          <p:cNvSpPr/>
          <p:nvPr/>
        </p:nvSpPr>
        <p:spPr>
          <a:xfrm>
            <a:off x="502920" y="4672584"/>
            <a:ext cx="6035040" cy="713232"/>
          </a:xfrm>
          <a:prstGeom prst="roundRect">
            <a:avLst>
              <a:gd name="adj" fmla="val 10256"/>
            </a:avLst>
          </a:prstGeom>
          <a:solidFill>
            <a:srgbClr val="12294F"/>
          </a:solidFill>
          <a:ln w="12700">
            <a:solidFill>
              <a:srgbClr val="1E3A6B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18" name="Shape 15"/>
          <p:cNvSpPr/>
          <p:nvPr/>
        </p:nvSpPr>
        <p:spPr>
          <a:xfrm>
            <a:off x="502920" y="4672584"/>
            <a:ext cx="82296" cy="713232"/>
          </a:xfrm>
          <a:prstGeom prst="rect">
            <a:avLst/>
          </a:prstGeom>
          <a:solidFill>
            <a:srgbClr val="F28C2B"/>
          </a:solidFill>
          <a:ln/>
        </p:spPr>
        <p:txBody>
          <a:bodyPr/>
          <a:lstStyle/>
          <a:p>
            <a:endParaRPr lang="pt-BR"/>
          </a:p>
        </p:txBody>
      </p:sp>
      <p:sp>
        <p:nvSpPr>
          <p:cNvPr id="19" name="Text 16"/>
          <p:cNvSpPr/>
          <p:nvPr/>
        </p:nvSpPr>
        <p:spPr>
          <a:xfrm>
            <a:off x="777240" y="4718304"/>
            <a:ext cx="54864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D1D5D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Maior valor</a:t>
            </a:r>
            <a:endParaRPr lang="en-US" sz="1400" dirty="0"/>
          </a:p>
        </p:txBody>
      </p:sp>
      <p:sp>
        <p:nvSpPr>
          <p:cNvPr id="20" name="Text 17"/>
          <p:cNvSpPr/>
          <p:nvPr/>
        </p:nvSpPr>
        <p:spPr>
          <a:xfrm>
            <a:off x="777240" y="4992624"/>
            <a:ext cx="548640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14,75%</a:t>
            </a:r>
            <a:endParaRPr lang="en-US" sz="1900" dirty="0"/>
          </a:p>
        </p:txBody>
      </p:sp>
      <p:sp>
        <p:nvSpPr>
          <p:cNvPr id="21" name="Shape 18"/>
          <p:cNvSpPr/>
          <p:nvPr/>
        </p:nvSpPr>
        <p:spPr>
          <a:xfrm>
            <a:off x="502920" y="5513832"/>
            <a:ext cx="6035040" cy="713232"/>
          </a:xfrm>
          <a:prstGeom prst="roundRect">
            <a:avLst>
              <a:gd name="adj" fmla="val 10256"/>
            </a:avLst>
          </a:prstGeom>
          <a:solidFill>
            <a:srgbClr val="12294F"/>
          </a:solidFill>
          <a:ln w="12700">
            <a:solidFill>
              <a:srgbClr val="1E3A6B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22" name="Shape 19"/>
          <p:cNvSpPr/>
          <p:nvPr/>
        </p:nvSpPr>
        <p:spPr>
          <a:xfrm>
            <a:off x="502920" y="5513832"/>
            <a:ext cx="82296" cy="713232"/>
          </a:xfrm>
          <a:prstGeom prst="rect">
            <a:avLst/>
          </a:prstGeom>
          <a:solidFill>
            <a:srgbClr val="F28C2B"/>
          </a:solidFill>
          <a:ln/>
        </p:spPr>
        <p:txBody>
          <a:bodyPr/>
          <a:lstStyle/>
          <a:p>
            <a:endParaRPr lang="pt-BR"/>
          </a:p>
        </p:txBody>
      </p:sp>
      <p:sp>
        <p:nvSpPr>
          <p:cNvPr id="23" name="Text 20"/>
          <p:cNvSpPr/>
          <p:nvPr/>
        </p:nvSpPr>
        <p:spPr>
          <a:xfrm>
            <a:off x="777240" y="5559552"/>
            <a:ext cx="54864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D1D5D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Menor valor</a:t>
            </a:r>
            <a:endParaRPr lang="en-US" sz="1400" dirty="0"/>
          </a:p>
        </p:txBody>
      </p:sp>
      <p:sp>
        <p:nvSpPr>
          <p:cNvPr id="24" name="Text 21"/>
          <p:cNvSpPr/>
          <p:nvPr/>
        </p:nvSpPr>
        <p:spPr>
          <a:xfrm>
            <a:off x="777240" y="5833872"/>
            <a:ext cx="548640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14,50%</a:t>
            </a:r>
            <a:endParaRPr lang="en-US" sz="1900" dirty="0"/>
          </a:p>
        </p:txBody>
      </p:sp>
      <p:sp>
        <p:nvSpPr>
          <p:cNvPr id="25" name="Text 22"/>
          <p:cNvSpPr/>
          <p:nvPr/>
        </p:nvSpPr>
        <p:spPr>
          <a:xfrm>
            <a:off x="7040880" y="2377440"/>
            <a:ext cx="4572000" cy="1828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ts val="3000"/>
              </a:lnSpc>
              <a:buNone/>
            </a:pPr>
            <a:r>
              <a:rPr lang="en-US" sz="1900" dirty="0">
                <a:solidFill>
                  <a:srgbClr val="D1D5D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Selic anualizada base 252 apresentou alta de 0,25 ponto percentual nos últimos 30 dias, encerrando o período em 14,75%.</a:t>
            </a:r>
            <a:endParaRPr lang="en-US" sz="19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02920" y="384048"/>
            <a:ext cx="1234440" cy="585216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10607040" y="411480"/>
            <a:ext cx="10972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1600" dirty="0">
                <a:solidFill>
                  <a:srgbClr val="8A93A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</a:t>
            </a:r>
            <a:endParaRPr lang="en-US" sz="1600" dirty="0"/>
          </a:p>
        </p:txBody>
      </p:sp>
      <p:sp>
        <p:nvSpPr>
          <p:cNvPr id="4" name="Text 1"/>
          <p:cNvSpPr/>
          <p:nvPr/>
        </p:nvSpPr>
        <p:spPr>
          <a:xfrm>
            <a:off x="502920" y="1234440"/>
            <a:ext cx="1115568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4000" kern="0" spc="-50" dirty="0">
                <a:solidFill>
                  <a:srgbClr val="0B1D3A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O MESMO CONCEITO SERVE PARA</a:t>
            </a:r>
            <a:endParaRPr lang="en-US" sz="4000" dirty="0"/>
          </a:p>
        </p:txBody>
      </p:sp>
      <p:sp>
        <p:nvSpPr>
          <p:cNvPr id="5" name="Shape 2"/>
          <p:cNvSpPr/>
          <p:nvPr/>
        </p:nvSpPr>
        <p:spPr>
          <a:xfrm>
            <a:off x="1554480" y="2194560"/>
            <a:ext cx="566928" cy="566928"/>
          </a:xfrm>
          <a:prstGeom prst="ellipse">
            <a:avLst/>
          </a:prstGeom>
          <a:solidFill>
            <a:srgbClr val="0B1D3A"/>
          </a:solidFill>
          <a:ln/>
        </p:spPr>
        <p:txBody>
          <a:bodyPr/>
          <a:lstStyle/>
          <a:p>
            <a:endParaRPr lang="pt-BR"/>
          </a:p>
        </p:txBody>
      </p:sp>
      <p:sp>
        <p:nvSpPr>
          <p:cNvPr id="6" name="Text 3"/>
          <p:cNvSpPr/>
          <p:nvPr/>
        </p:nvSpPr>
        <p:spPr>
          <a:xfrm>
            <a:off x="1554480" y="2194560"/>
            <a:ext cx="566928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$</a:t>
            </a:r>
            <a:endParaRPr lang="en-US" sz="2000" dirty="0"/>
          </a:p>
        </p:txBody>
      </p:sp>
      <p:sp>
        <p:nvSpPr>
          <p:cNvPr id="7" name="Text 4"/>
          <p:cNvSpPr/>
          <p:nvPr/>
        </p:nvSpPr>
        <p:spPr>
          <a:xfrm>
            <a:off x="594360" y="2852928"/>
            <a:ext cx="24688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700" dirty="0">
                <a:solidFill>
                  <a:srgbClr val="0B1D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PTAX (Dólar)</a:t>
            </a:r>
            <a:endParaRPr lang="en-US" sz="1700" dirty="0"/>
          </a:p>
        </p:txBody>
      </p:sp>
      <p:sp>
        <p:nvSpPr>
          <p:cNvPr id="8" name="Shape 5"/>
          <p:cNvSpPr/>
          <p:nvPr/>
        </p:nvSpPr>
        <p:spPr>
          <a:xfrm>
            <a:off x="4343400" y="2194560"/>
            <a:ext cx="566928" cy="566928"/>
          </a:xfrm>
          <a:prstGeom prst="ellipse">
            <a:avLst/>
          </a:prstGeom>
          <a:solidFill>
            <a:srgbClr val="0B1D3A"/>
          </a:solidFill>
          <a:ln/>
        </p:spPr>
        <p:txBody>
          <a:bodyPr/>
          <a:lstStyle/>
          <a:p>
            <a:endParaRPr lang="pt-BR"/>
          </a:p>
        </p:txBody>
      </p:sp>
      <p:sp>
        <p:nvSpPr>
          <p:cNvPr id="9" name="Text 6"/>
          <p:cNvSpPr/>
          <p:nvPr/>
        </p:nvSpPr>
        <p:spPr>
          <a:xfrm>
            <a:off x="4343400" y="2194560"/>
            <a:ext cx="566928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📈</a:t>
            </a:r>
            <a:endParaRPr lang="en-US" sz="2000" dirty="0"/>
          </a:p>
        </p:txBody>
      </p:sp>
      <p:sp>
        <p:nvSpPr>
          <p:cNvPr id="10" name="Text 7"/>
          <p:cNvSpPr/>
          <p:nvPr/>
        </p:nvSpPr>
        <p:spPr>
          <a:xfrm>
            <a:off x="3383280" y="2852928"/>
            <a:ext cx="24688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700" dirty="0">
                <a:solidFill>
                  <a:srgbClr val="0B1D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IPCA</a:t>
            </a:r>
            <a:endParaRPr lang="en-US" sz="1700" dirty="0"/>
          </a:p>
        </p:txBody>
      </p:sp>
      <p:sp>
        <p:nvSpPr>
          <p:cNvPr id="11" name="Shape 8"/>
          <p:cNvSpPr/>
          <p:nvPr/>
        </p:nvSpPr>
        <p:spPr>
          <a:xfrm>
            <a:off x="7132320" y="2194560"/>
            <a:ext cx="566928" cy="566928"/>
          </a:xfrm>
          <a:prstGeom prst="ellipse">
            <a:avLst/>
          </a:prstGeom>
          <a:solidFill>
            <a:srgbClr val="0B1D3A"/>
          </a:solidFill>
          <a:ln/>
        </p:spPr>
        <p:txBody>
          <a:bodyPr/>
          <a:lstStyle/>
          <a:p>
            <a:endParaRPr lang="pt-BR"/>
          </a:p>
        </p:txBody>
      </p:sp>
      <p:sp>
        <p:nvSpPr>
          <p:cNvPr id="12" name="Text 9"/>
          <p:cNvSpPr/>
          <p:nvPr/>
        </p:nvSpPr>
        <p:spPr>
          <a:xfrm>
            <a:off x="7132320" y="2194560"/>
            <a:ext cx="566928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%</a:t>
            </a:r>
            <a:endParaRPr lang="en-US" sz="2000" dirty="0"/>
          </a:p>
        </p:txBody>
      </p:sp>
      <p:sp>
        <p:nvSpPr>
          <p:cNvPr id="13" name="Text 10"/>
          <p:cNvSpPr/>
          <p:nvPr/>
        </p:nvSpPr>
        <p:spPr>
          <a:xfrm>
            <a:off x="6172200" y="2852928"/>
            <a:ext cx="24688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700" dirty="0">
                <a:solidFill>
                  <a:srgbClr val="0B1D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CDI</a:t>
            </a:r>
            <a:endParaRPr lang="en-US" sz="1700" dirty="0"/>
          </a:p>
        </p:txBody>
      </p:sp>
      <p:sp>
        <p:nvSpPr>
          <p:cNvPr id="14" name="Shape 11"/>
          <p:cNvSpPr/>
          <p:nvPr/>
        </p:nvSpPr>
        <p:spPr>
          <a:xfrm>
            <a:off x="9921240" y="2194560"/>
            <a:ext cx="566928" cy="566928"/>
          </a:xfrm>
          <a:prstGeom prst="ellipse">
            <a:avLst/>
          </a:prstGeom>
          <a:solidFill>
            <a:srgbClr val="0B1D3A"/>
          </a:solidFill>
          <a:ln/>
        </p:spPr>
        <p:txBody>
          <a:bodyPr/>
          <a:lstStyle/>
          <a:p>
            <a:endParaRPr lang="pt-BR"/>
          </a:p>
        </p:txBody>
      </p:sp>
      <p:sp>
        <p:nvSpPr>
          <p:cNvPr id="15" name="Text 12"/>
          <p:cNvSpPr/>
          <p:nvPr/>
        </p:nvSpPr>
        <p:spPr>
          <a:xfrm>
            <a:off x="9921240" y="2194560"/>
            <a:ext cx="566928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▥</a:t>
            </a:r>
            <a:endParaRPr lang="en-US" sz="2000" dirty="0"/>
          </a:p>
        </p:txBody>
      </p:sp>
      <p:sp>
        <p:nvSpPr>
          <p:cNvPr id="16" name="Text 13"/>
          <p:cNvSpPr/>
          <p:nvPr/>
        </p:nvSpPr>
        <p:spPr>
          <a:xfrm>
            <a:off x="8961120" y="2852928"/>
            <a:ext cx="24688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700" dirty="0">
                <a:solidFill>
                  <a:srgbClr val="0B1D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IGP-M</a:t>
            </a:r>
            <a:endParaRPr lang="en-US" sz="1700" dirty="0"/>
          </a:p>
        </p:txBody>
      </p:sp>
      <p:sp>
        <p:nvSpPr>
          <p:cNvPr id="17" name="Shape 14"/>
          <p:cNvSpPr/>
          <p:nvPr/>
        </p:nvSpPr>
        <p:spPr>
          <a:xfrm>
            <a:off x="1554480" y="3566160"/>
            <a:ext cx="566928" cy="566928"/>
          </a:xfrm>
          <a:prstGeom prst="ellipse">
            <a:avLst/>
          </a:prstGeom>
          <a:solidFill>
            <a:srgbClr val="0B1D3A"/>
          </a:solidFill>
          <a:ln/>
        </p:spPr>
        <p:txBody>
          <a:bodyPr/>
          <a:lstStyle/>
          <a:p>
            <a:endParaRPr lang="pt-BR"/>
          </a:p>
        </p:txBody>
      </p:sp>
      <p:sp>
        <p:nvSpPr>
          <p:cNvPr id="18" name="Text 15"/>
          <p:cNvSpPr/>
          <p:nvPr/>
        </p:nvSpPr>
        <p:spPr>
          <a:xfrm>
            <a:off x="1554480" y="3566160"/>
            <a:ext cx="566928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▤</a:t>
            </a:r>
            <a:endParaRPr lang="en-US" sz="2000" dirty="0"/>
          </a:p>
        </p:txBody>
      </p:sp>
      <p:sp>
        <p:nvSpPr>
          <p:cNvPr id="19" name="Text 16"/>
          <p:cNvSpPr/>
          <p:nvPr/>
        </p:nvSpPr>
        <p:spPr>
          <a:xfrm>
            <a:off x="594360" y="4224528"/>
            <a:ext cx="24688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700" dirty="0">
                <a:solidFill>
                  <a:srgbClr val="0B1D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CNPJ / Empresas</a:t>
            </a:r>
            <a:endParaRPr lang="en-US" sz="1700" dirty="0"/>
          </a:p>
        </p:txBody>
      </p:sp>
      <p:sp>
        <p:nvSpPr>
          <p:cNvPr id="20" name="Shape 17"/>
          <p:cNvSpPr/>
          <p:nvPr/>
        </p:nvSpPr>
        <p:spPr>
          <a:xfrm>
            <a:off x="4343400" y="3566160"/>
            <a:ext cx="566928" cy="566928"/>
          </a:xfrm>
          <a:prstGeom prst="ellipse">
            <a:avLst/>
          </a:prstGeom>
          <a:solidFill>
            <a:srgbClr val="0B1D3A"/>
          </a:solidFill>
          <a:ln/>
        </p:spPr>
        <p:txBody>
          <a:bodyPr/>
          <a:lstStyle/>
          <a:p>
            <a:endParaRPr lang="pt-BR"/>
          </a:p>
        </p:txBody>
      </p:sp>
      <p:sp>
        <p:nvSpPr>
          <p:cNvPr id="21" name="Text 18"/>
          <p:cNvSpPr/>
          <p:nvPr/>
        </p:nvSpPr>
        <p:spPr>
          <a:xfrm>
            <a:off x="4343400" y="3566160"/>
            <a:ext cx="566928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▦</a:t>
            </a:r>
            <a:endParaRPr lang="en-US" sz="2000" dirty="0"/>
          </a:p>
        </p:txBody>
      </p:sp>
      <p:sp>
        <p:nvSpPr>
          <p:cNvPr id="22" name="Text 19"/>
          <p:cNvSpPr/>
          <p:nvPr/>
        </p:nvSpPr>
        <p:spPr>
          <a:xfrm>
            <a:off x="3383280" y="4224528"/>
            <a:ext cx="24688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700" dirty="0">
                <a:solidFill>
                  <a:srgbClr val="0B1D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NF-e</a:t>
            </a:r>
            <a:endParaRPr lang="en-US" sz="1700" dirty="0"/>
          </a:p>
        </p:txBody>
      </p:sp>
      <p:sp>
        <p:nvSpPr>
          <p:cNvPr id="23" name="Shape 20"/>
          <p:cNvSpPr/>
          <p:nvPr/>
        </p:nvSpPr>
        <p:spPr>
          <a:xfrm>
            <a:off x="7132320" y="3566160"/>
            <a:ext cx="566928" cy="566928"/>
          </a:xfrm>
          <a:prstGeom prst="ellipse">
            <a:avLst/>
          </a:prstGeom>
          <a:solidFill>
            <a:srgbClr val="0B1D3A"/>
          </a:solidFill>
          <a:ln/>
        </p:spPr>
        <p:txBody>
          <a:bodyPr/>
          <a:lstStyle/>
          <a:p>
            <a:endParaRPr lang="pt-BR"/>
          </a:p>
        </p:txBody>
      </p:sp>
      <p:sp>
        <p:nvSpPr>
          <p:cNvPr id="24" name="Text 21"/>
          <p:cNvSpPr/>
          <p:nvPr/>
        </p:nvSpPr>
        <p:spPr>
          <a:xfrm>
            <a:off x="7132320" y="3566160"/>
            <a:ext cx="566928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✎</a:t>
            </a:r>
            <a:endParaRPr lang="en-US" sz="2000" dirty="0"/>
          </a:p>
        </p:txBody>
      </p:sp>
      <p:sp>
        <p:nvSpPr>
          <p:cNvPr id="25" name="Text 22"/>
          <p:cNvSpPr/>
          <p:nvPr/>
        </p:nvSpPr>
        <p:spPr>
          <a:xfrm>
            <a:off x="6172200" y="4224528"/>
            <a:ext cx="24688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700" dirty="0">
                <a:solidFill>
                  <a:srgbClr val="0B1D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Protestos</a:t>
            </a:r>
            <a:endParaRPr lang="en-US" sz="1700" dirty="0"/>
          </a:p>
        </p:txBody>
      </p:sp>
      <p:sp>
        <p:nvSpPr>
          <p:cNvPr id="26" name="Shape 23"/>
          <p:cNvSpPr/>
          <p:nvPr/>
        </p:nvSpPr>
        <p:spPr>
          <a:xfrm>
            <a:off x="9921240" y="3566160"/>
            <a:ext cx="566928" cy="566928"/>
          </a:xfrm>
          <a:prstGeom prst="ellipse">
            <a:avLst/>
          </a:prstGeom>
          <a:solidFill>
            <a:srgbClr val="0B1D3A"/>
          </a:solidFill>
          <a:ln/>
        </p:spPr>
        <p:txBody>
          <a:bodyPr/>
          <a:lstStyle/>
          <a:p>
            <a:endParaRPr lang="pt-BR"/>
          </a:p>
        </p:txBody>
      </p:sp>
      <p:sp>
        <p:nvSpPr>
          <p:cNvPr id="27" name="Text 24"/>
          <p:cNvSpPr/>
          <p:nvPr/>
        </p:nvSpPr>
        <p:spPr>
          <a:xfrm>
            <a:off x="9921240" y="3566160"/>
            <a:ext cx="566928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◆</a:t>
            </a:r>
            <a:endParaRPr lang="en-US" sz="2000" dirty="0"/>
          </a:p>
        </p:txBody>
      </p:sp>
      <p:sp>
        <p:nvSpPr>
          <p:cNvPr id="28" name="Text 25"/>
          <p:cNvSpPr/>
          <p:nvPr/>
        </p:nvSpPr>
        <p:spPr>
          <a:xfrm>
            <a:off x="8961120" y="4224528"/>
            <a:ext cx="24688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700" dirty="0">
                <a:solidFill>
                  <a:srgbClr val="0B1D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Serasa</a:t>
            </a:r>
            <a:endParaRPr lang="en-US" sz="1700" dirty="0"/>
          </a:p>
        </p:txBody>
      </p:sp>
      <p:sp>
        <p:nvSpPr>
          <p:cNvPr id="29" name="Shape 26"/>
          <p:cNvSpPr/>
          <p:nvPr/>
        </p:nvSpPr>
        <p:spPr>
          <a:xfrm>
            <a:off x="1554480" y="4937760"/>
            <a:ext cx="566928" cy="566928"/>
          </a:xfrm>
          <a:prstGeom prst="ellipse">
            <a:avLst/>
          </a:prstGeom>
          <a:solidFill>
            <a:srgbClr val="0B1D3A"/>
          </a:solidFill>
          <a:ln/>
        </p:spPr>
        <p:txBody>
          <a:bodyPr/>
          <a:lstStyle/>
          <a:p>
            <a:endParaRPr lang="pt-BR"/>
          </a:p>
        </p:txBody>
      </p:sp>
      <p:sp>
        <p:nvSpPr>
          <p:cNvPr id="30" name="Text 27"/>
          <p:cNvSpPr/>
          <p:nvPr/>
        </p:nvSpPr>
        <p:spPr>
          <a:xfrm>
            <a:off x="1554480" y="4937760"/>
            <a:ext cx="566928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▤</a:t>
            </a:r>
            <a:endParaRPr lang="en-US" sz="2000" dirty="0"/>
          </a:p>
        </p:txBody>
      </p:sp>
      <p:sp>
        <p:nvSpPr>
          <p:cNvPr id="31" name="Text 28"/>
          <p:cNvSpPr/>
          <p:nvPr/>
        </p:nvSpPr>
        <p:spPr>
          <a:xfrm>
            <a:off x="594360" y="5596128"/>
            <a:ext cx="24688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700" dirty="0">
                <a:solidFill>
                  <a:srgbClr val="0B1D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CNAB</a:t>
            </a:r>
            <a:endParaRPr lang="en-US" sz="1700" dirty="0"/>
          </a:p>
        </p:txBody>
      </p:sp>
      <p:sp>
        <p:nvSpPr>
          <p:cNvPr id="32" name="Shape 29"/>
          <p:cNvSpPr/>
          <p:nvPr/>
        </p:nvSpPr>
        <p:spPr>
          <a:xfrm>
            <a:off x="4343400" y="4937760"/>
            <a:ext cx="566928" cy="566928"/>
          </a:xfrm>
          <a:prstGeom prst="ellipse">
            <a:avLst/>
          </a:prstGeom>
          <a:solidFill>
            <a:srgbClr val="0B1D3A"/>
          </a:solidFill>
          <a:ln/>
        </p:spPr>
        <p:txBody>
          <a:bodyPr/>
          <a:lstStyle/>
          <a:p>
            <a:endParaRPr lang="pt-BR"/>
          </a:p>
        </p:txBody>
      </p:sp>
      <p:sp>
        <p:nvSpPr>
          <p:cNvPr id="33" name="Text 30"/>
          <p:cNvSpPr/>
          <p:nvPr/>
        </p:nvSpPr>
        <p:spPr>
          <a:xfrm>
            <a:off x="4343400" y="4937760"/>
            <a:ext cx="566928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▥</a:t>
            </a:r>
            <a:endParaRPr lang="en-US" sz="2000" dirty="0"/>
          </a:p>
        </p:txBody>
      </p:sp>
      <p:sp>
        <p:nvSpPr>
          <p:cNvPr id="34" name="Text 31"/>
          <p:cNvSpPr/>
          <p:nvPr/>
        </p:nvSpPr>
        <p:spPr>
          <a:xfrm>
            <a:off x="3383280" y="5596128"/>
            <a:ext cx="24688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700" dirty="0">
                <a:solidFill>
                  <a:srgbClr val="0B1D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Relatórios</a:t>
            </a:r>
            <a:endParaRPr lang="en-US" sz="1700" dirty="0"/>
          </a:p>
        </p:txBody>
      </p:sp>
      <p:sp>
        <p:nvSpPr>
          <p:cNvPr id="35" name="Shape 32"/>
          <p:cNvSpPr/>
          <p:nvPr/>
        </p:nvSpPr>
        <p:spPr>
          <a:xfrm>
            <a:off x="7132320" y="4937760"/>
            <a:ext cx="566928" cy="566928"/>
          </a:xfrm>
          <a:prstGeom prst="ellipse">
            <a:avLst/>
          </a:prstGeom>
          <a:solidFill>
            <a:srgbClr val="0B1D3A"/>
          </a:solidFill>
          <a:ln/>
        </p:spPr>
        <p:txBody>
          <a:bodyPr/>
          <a:lstStyle/>
          <a:p>
            <a:endParaRPr lang="pt-BR"/>
          </a:p>
        </p:txBody>
      </p:sp>
      <p:sp>
        <p:nvSpPr>
          <p:cNvPr id="36" name="Text 33"/>
          <p:cNvSpPr/>
          <p:nvPr/>
        </p:nvSpPr>
        <p:spPr>
          <a:xfrm>
            <a:off x="7132320" y="4937760"/>
            <a:ext cx="566928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◕</a:t>
            </a:r>
            <a:endParaRPr lang="en-US" sz="2000" dirty="0"/>
          </a:p>
        </p:txBody>
      </p:sp>
      <p:sp>
        <p:nvSpPr>
          <p:cNvPr id="37" name="Text 34"/>
          <p:cNvSpPr/>
          <p:nvPr/>
        </p:nvSpPr>
        <p:spPr>
          <a:xfrm>
            <a:off x="6172200" y="5596128"/>
            <a:ext cx="24688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700" dirty="0">
                <a:solidFill>
                  <a:srgbClr val="0B1D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Dashboards</a:t>
            </a:r>
            <a:endParaRPr lang="en-US" sz="1700" dirty="0"/>
          </a:p>
        </p:txBody>
      </p:sp>
      <p:sp>
        <p:nvSpPr>
          <p:cNvPr id="38" name="Shape 35"/>
          <p:cNvSpPr/>
          <p:nvPr/>
        </p:nvSpPr>
        <p:spPr>
          <a:xfrm>
            <a:off x="9921240" y="4937760"/>
            <a:ext cx="566928" cy="566928"/>
          </a:xfrm>
          <a:prstGeom prst="ellipse">
            <a:avLst/>
          </a:prstGeom>
          <a:solidFill>
            <a:srgbClr val="F28C2B"/>
          </a:solidFill>
          <a:ln/>
        </p:spPr>
        <p:txBody>
          <a:bodyPr/>
          <a:lstStyle/>
          <a:p>
            <a:endParaRPr lang="pt-BR"/>
          </a:p>
        </p:txBody>
      </p:sp>
      <p:sp>
        <p:nvSpPr>
          <p:cNvPr id="39" name="Text 36"/>
          <p:cNvSpPr/>
          <p:nvPr/>
        </p:nvSpPr>
        <p:spPr>
          <a:xfrm>
            <a:off x="9921240" y="4937760"/>
            <a:ext cx="566928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</a:t>
            </a:r>
            <a:endParaRPr lang="en-US" sz="2000" dirty="0"/>
          </a:p>
        </p:txBody>
      </p:sp>
      <p:sp>
        <p:nvSpPr>
          <p:cNvPr id="40" name="Text 37"/>
          <p:cNvSpPr/>
          <p:nvPr/>
        </p:nvSpPr>
        <p:spPr>
          <a:xfrm>
            <a:off x="8961120" y="5596128"/>
            <a:ext cx="24688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700" dirty="0">
                <a:solidFill>
                  <a:srgbClr val="0B1D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 muito mais!</a:t>
            </a:r>
            <a:endParaRPr lang="en-US" sz="17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0B1D3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02920" y="384048"/>
            <a:ext cx="1234440" cy="585216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10607040" y="411480"/>
            <a:ext cx="10972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1600" dirty="0">
                <a:solidFill>
                  <a:srgbClr val="D1D5D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11</a:t>
            </a:r>
            <a:endParaRPr lang="en-US" sz="1600" dirty="0"/>
          </a:p>
        </p:txBody>
      </p:sp>
      <p:sp>
        <p:nvSpPr>
          <p:cNvPr id="4" name="Text 1"/>
          <p:cNvSpPr/>
          <p:nvPr/>
        </p:nvSpPr>
        <p:spPr>
          <a:xfrm>
            <a:off x="0" y="1371600"/>
            <a:ext cx="12191695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4400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DESAFIO</a:t>
            </a:r>
            <a:endParaRPr lang="en-US" sz="4400" dirty="0"/>
          </a:p>
        </p:txBody>
      </p:sp>
      <p:sp>
        <p:nvSpPr>
          <p:cNvPr id="5" name="Shape 2"/>
          <p:cNvSpPr/>
          <p:nvPr/>
        </p:nvSpPr>
        <p:spPr>
          <a:xfrm>
            <a:off x="5184648" y="2377440"/>
            <a:ext cx="1828800" cy="1828800"/>
          </a:xfrm>
          <a:prstGeom prst="ellipse">
            <a:avLst/>
          </a:prstGeom>
          <a:solidFill>
            <a:srgbClr val="12294F"/>
          </a:solidFill>
          <a:ln w="25400">
            <a:solidFill>
              <a:srgbClr val="F28C2B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6" name="Text 3"/>
          <p:cNvSpPr/>
          <p:nvPr/>
        </p:nvSpPr>
        <p:spPr>
          <a:xfrm>
            <a:off x="5184648" y="2514600"/>
            <a:ext cx="1828800" cy="1554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6000" dirty="0">
                <a:solidFill>
                  <a:srgbClr val="F28C2B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!</a:t>
            </a:r>
            <a:endParaRPr lang="en-US" sz="6000" dirty="0"/>
          </a:p>
        </p:txBody>
      </p:sp>
      <p:sp>
        <p:nvSpPr>
          <p:cNvPr id="7" name="Text 4"/>
          <p:cNvSpPr/>
          <p:nvPr/>
        </p:nvSpPr>
        <p:spPr>
          <a:xfrm>
            <a:off x="914400" y="4617720"/>
            <a:ext cx="1033272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lnSpc>
                <a:spcPts val="3800"/>
              </a:lnSpc>
              <a:buNone/>
            </a:pPr>
            <a:r>
              <a:rPr lang="en-US" sz="26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Pense em uma tarefa que você</a:t>
            </a:r>
            <a:endParaRPr lang="en-US" sz="2600" dirty="0"/>
          </a:p>
          <a:p>
            <a:pPr marL="0" indent="0" algn="ctr">
              <a:lnSpc>
                <a:spcPts val="3800"/>
              </a:lnSpc>
              <a:buNone/>
            </a:pPr>
            <a:r>
              <a:rPr lang="en-US" sz="26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faz toda semana.</a:t>
            </a:r>
            <a:endParaRPr lang="en-US" sz="2600" dirty="0"/>
          </a:p>
        </p:txBody>
      </p:sp>
      <p:sp>
        <p:nvSpPr>
          <p:cNvPr id="8" name="Text 5"/>
          <p:cNvSpPr/>
          <p:nvPr/>
        </p:nvSpPr>
        <p:spPr>
          <a:xfrm>
            <a:off x="914400" y="5623560"/>
            <a:ext cx="1033272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600" dirty="0">
                <a:solidFill>
                  <a:srgbClr val="F28C2B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Ela provavelmente pode virar um robô!</a:t>
            </a:r>
            <a:endParaRPr lang="en-US" sz="26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02920" y="384048"/>
            <a:ext cx="1234440" cy="585216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10607040" y="411480"/>
            <a:ext cx="10972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1600" dirty="0">
                <a:solidFill>
                  <a:srgbClr val="8A93A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12</a:t>
            </a:r>
            <a:endParaRPr lang="en-US" sz="1600" dirty="0"/>
          </a:p>
        </p:txBody>
      </p:sp>
      <p:sp>
        <p:nvSpPr>
          <p:cNvPr id="4" name="Text 1"/>
          <p:cNvSpPr/>
          <p:nvPr/>
        </p:nvSpPr>
        <p:spPr>
          <a:xfrm>
            <a:off x="0" y="1463040"/>
            <a:ext cx="12191695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4000" dirty="0">
                <a:solidFill>
                  <a:srgbClr val="0B1D3A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PRÓXIMA OFICINA</a:t>
            </a:r>
            <a:endParaRPr lang="en-US" sz="4000" dirty="0"/>
          </a:p>
        </p:txBody>
      </p:sp>
      <p:sp>
        <p:nvSpPr>
          <p:cNvPr id="5" name="Shape 2"/>
          <p:cNvSpPr/>
          <p:nvPr/>
        </p:nvSpPr>
        <p:spPr>
          <a:xfrm>
            <a:off x="2377440" y="3017520"/>
            <a:ext cx="1828800" cy="1828800"/>
          </a:xfrm>
          <a:prstGeom prst="ellipse">
            <a:avLst/>
          </a:prstGeom>
          <a:solidFill>
            <a:srgbClr val="E8ECF3"/>
          </a:solidFill>
          <a:ln/>
        </p:spPr>
        <p:txBody>
          <a:bodyPr/>
          <a:lstStyle/>
          <a:p>
            <a:endParaRPr lang="pt-BR"/>
          </a:p>
        </p:txBody>
      </p:sp>
      <p:sp>
        <p:nvSpPr>
          <p:cNvPr id="6" name="Shape 3"/>
          <p:cNvSpPr/>
          <p:nvPr/>
        </p:nvSpPr>
        <p:spPr>
          <a:xfrm>
            <a:off x="2880360" y="3520440"/>
            <a:ext cx="822960" cy="822960"/>
          </a:xfrm>
          <a:prstGeom prst="roundRect">
            <a:avLst>
              <a:gd name="adj" fmla="val 11111"/>
            </a:avLst>
          </a:prstGeom>
          <a:solidFill>
            <a:srgbClr val="0B1D3A"/>
          </a:solidFill>
          <a:ln/>
        </p:spPr>
        <p:txBody>
          <a:bodyPr/>
          <a:lstStyle/>
          <a:p>
            <a:endParaRPr lang="pt-BR"/>
          </a:p>
        </p:txBody>
      </p:sp>
      <p:sp>
        <p:nvSpPr>
          <p:cNvPr id="7" name="Shape 4"/>
          <p:cNvSpPr/>
          <p:nvPr/>
        </p:nvSpPr>
        <p:spPr>
          <a:xfrm>
            <a:off x="2880360" y="3520440"/>
            <a:ext cx="822960" cy="201168"/>
          </a:xfrm>
          <a:prstGeom prst="rect">
            <a:avLst/>
          </a:prstGeom>
          <a:solidFill>
            <a:srgbClr val="F28C2B"/>
          </a:solidFill>
          <a:ln/>
        </p:spPr>
        <p:txBody>
          <a:bodyPr/>
          <a:lstStyle/>
          <a:p>
            <a:endParaRPr lang="pt-BR"/>
          </a:p>
        </p:txBody>
      </p:sp>
      <p:sp>
        <p:nvSpPr>
          <p:cNvPr id="8" name="Text 5"/>
          <p:cNvSpPr/>
          <p:nvPr/>
        </p:nvSpPr>
        <p:spPr>
          <a:xfrm>
            <a:off x="2880360" y="3703320"/>
            <a:ext cx="82296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800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17</a:t>
            </a:r>
            <a:endParaRPr lang="en-US" sz="1800" dirty="0"/>
          </a:p>
        </p:txBody>
      </p:sp>
      <p:sp>
        <p:nvSpPr>
          <p:cNvPr id="9" name="Text 6"/>
          <p:cNvSpPr/>
          <p:nvPr/>
        </p:nvSpPr>
        <p:spPr>
          <a:xfrm>
            <a:off x="4754880" y="3154680"/>
            <a:ext cx="667512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ts val="3800"/>
              </a:lnSpc>
              <a:buNone/>
            </a:pPr>
            <a:r>
              <a:rPr lang="en-US" sz="2600" b="1" dirty="0">
                <a:solidFill>
                  <a:srgbClr val="0B1D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Um robô escolhido pela equipe</a:t>
            </a:r>
            <a:endParaRPr lang="en-US" sz="2600" dirty="0"/>
          </a:p>
          <a:p>
            <a:pPr marL="0" indent="0">
              <a:lnSpc>
                <a:spcPts val="3800"/>
              </a:lnSpc>
              <a:buNone/>
            </a:pPr>
            <a:r>
              <a:rPr lang="en-US" sz="2600" b="1" dirty="0">
                <a:solidFill>
                  <a:srgbClr val="0B1D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será construído juntos!</a:t>
            </a:r>
            <a:endParaRPr lang="en-US" sz="2600" dirty="0"/>
          </a:p>
        </p:txBody>
      </p:sp>
      <p:sp>
        <p:nvSpPr>
          <p:cNvPr id="10" name="Text 7"/>
          <p:cNvSpPr/>
          <p:nvPr/>
        </p:nvSpPr>
        <p:spPr>
          <a:xfrm>
            <a:off x="4754880" y="4434840"/>
            <a:ext cx="667512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400" dirty="0">
                <a:solidFill>
                  <a:srgbClr val="F28C2B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Participe, proponha e automatize!</a:t>
            </a:r>
            <a:endParaRPr lang="en-US" sz="24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0B1D3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22960" y="2834640"/>
            <a:ext cx="2194560" cy="1042416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3749040" y="2514600"/>
            <a:ext cx="64008" cy="1828800"/>
          </a:xfrm>
          <a:prstGeom prst="rect">
            <a:avLst/>
          </a:prstGeom>
          <a:solidFill>
            <a:srgbClr val="F28C2B"/>
          </a:solidFill>
          <a:ln/>
        </p:spPr>
        <p:txBody>
          <a:bodyPr/>
          <a:lstStyle/>
          <a:p>
            <a:endParaRPr lang="pt-BR"/>
          </a:p>
        </p:txBody>
      </p:sp>
      <p:sp>
        <p:nvSpPr>
          <p:cNvPr id="4" name="Text 1"/>
          <p:cNvSpPr/>
          <p:nvPr/>
        </p:nvSpPr>
        <p:spPr>
          <a:xfrm>
            <a:off x="4297680" y="2697480"/>
            <a:ext cx="73152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3000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Automatizar é transformar </a:t>
            </a:r>
            <a:r>
              <a:rPr lang="en-US" sz="3000" dirty="0">
                <a:solidFill>
                  <a:srgbClr val="F28C2B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tempo </a:t>
            </a:r>
            <a:r>
              <a:rPr lang="en-US" sz="3000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em </a:t>
            </a:r>
            <a:r>
              <a:rPr lang="en-US" sz="3000" dirty="0">
                <a:solidFill>
                  <a:srgbClr val="F28C2B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valor.</a:t>
            </a:r>
            <a:endParaRPr lang="en-US" sz="3000" dirty="0"/>
          </a:p>
        </p:txBody>
      </p:sp>
      <p:sp>
        <p:nvSpPr>
          <p:cNvPr id="5" name="Text 2"/>
          <p:cNvSpPr/>
          <p:nvPr/>
        </p:nvSpPr>
        <p:spPr>
          <a:xfrm>
            <a:off x="4297680" y="3520440"/>
            <a:ext cx="73152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400" dirty="0">
                <a:solidFill>
                  <a:srgbClr val="D1D5D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Menos repetição. Mais estratégia. Mais impacto.</a:t>
            </a:r>
            <a:endParaRPr lang="en-US" sz="24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1D3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502920"/>
            <a:ext cx="73152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800" b="1">
                <a:solidFill>
                  <a:srgbClr val="FFFFFF"/>
                </a:solidFill>
              </a:defRPr>
            </a:pPr>
            <a:r>
              <a:t>LEVE O PROJETO COM VOCÊ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85800" y="1417320"/>
            <a:ext cx="4937760" cy="3200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800" b="1">
                <a:solidFill>
                  <a:srgbClr val="F28C2B"/>
                </a:solidFill>
              </a:defRPr>
            </a:pPr>
            <a:r>
              <a:t>No repositório você encontrará:</a:t>
            </a:r>
          </a:p>
          <a:p>
            <a:pPr>
              <a:spcAft>
                <a:spcPts val="800"/>
              </a:spcAft>
              <a:defRPr sz="1800">
                <a:solidFill>
                  <a:srgbClr val="FFFFFF"/>
                </a:solidFill>
              </a:defRPr>
            </a:pPr>
            <a:r>
              <a:t>✓ PowerPoint</a:t>
            </a:r>
          </a:p>
          <a:p>
            <a:pPr>
              <a:spcAft>
                <a:spcPts val="800"/>
              </a:spcAft>
              <a:defRPr sz="1800">
                <a:solidFill>
                  <a:srgbClr val="FFFFFF"/>
                </a:solidFill>
              </a:defRPr>
            </a:pPr>
            <a:r>
              <a:t>✓ Código Python</a:t>
            </a:r>
          </a:p>
          <a:p>
            <a:pPr>
              <a:spcAft>
                <a:spcPts val="800"/>
              </a:spcAft>
              <a:defRPr sz="1800">
                <a:solidFill>
                  <a:srgbClr val="FFFFFF"/>
                </a:solidFill>
              </a:defRPr>
            </a:pPr>
            <a:r>
              <a:t>✓ Prompt</a:t>
            </a:r>
          </a:p>
          <a:p>
            <a:pPr>
              <a:spcAft>
                <a:spcPts val="800"/>
              </a:spcAft>
              <a:defRPr sz="1800">
                <a:solidFill>
                  <a:srgbClr val="FFFFFF"/>
                </a:solidFill>
              </a:defRPr>
            </a:pPr>
            <a:r>
              <a:t>✓ Excel</a:t>
            </a:r>
          </a:p>
          <a:p>
            <a:pPr>
              <a:spcAft>
                <a:spcPts val="800"/>
              </a:spcAft>
              <a:defRPr sz="1800">
                <a:solidFill>
                  <a:srgbClr val="FFFFFF"/>
                </a:solidFill>
              </a:defRPr>
            </a:pPr>
            <a:r>
              <a:t>✓ Gráfico</a:t>
            </a:r>
          </a:p>
          <a:p>
            <a:pPr>
              <a:spcAft>
                <a:spcPts val="800"/>
              </a:spcAft>
              <a:defRPr sz="1800">
                <a:solidFill>
                  <a:srgbClr val="FFFFFF"/>
                </a:solidFill>
              </a:defRPr>
            </a:pPr>
            <a:r>
              <a:t>✓ Apostila e links úteis</a:t>
            </a:r>
          </a:p>
        </p:txBody>
      </p:sp>
      <p:pic>
        <p:nvPicPr>
          <p:cNvPr id="4" name="Picture 3" descr="QRCode_GitHub_SUBSTITUIR_UR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863840" y="1143000"/>
            <a:ext cx="2926080" cy="29260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452360" y="4251960"/>
            <a:ext cx="3749039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200">
                <a:solidFill>
                  <a:srgbClr val="D1D5DB"/>
                </a:solidFill>
              </a:defRPr>
            </a:pPr>
            <a:r>
              <a:t>QR Code de exemplo.</a:t>
            </a:r>
            <a:br/>
            <a:r>
              <a:t>Substitua após publicar o GitHub.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85800" y="5852160"/>
            <a:ext cx="1078992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600" b="1">
                <a:solidFill>
                  <a:srgbClr val="FFFFFF"/>
                </a:solidFill>
              </a:defRPr>
            </a:pPr>
            <a:r>
              <a:t>Automatize tarefas. Ganhe tempo. Gere valor.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3</TotalTime>
  <Words>527</Words>
  <Application>Microsoft Office PowerPoint</Application>
  <PresentationFormat>Widescreen</PresentationFormat>
  <Paragraphs>184</Paragraphs>
  <Slides>13</Slides>
  <Notes>13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13</vt:i4>
      </vt:variant>
    </vt:vector>
  </HeadingPairs>
  <TitlesOfParts>
    <vt:vector size="17" baseType="lpstr">
      <vt:lpstr>Arial</vt:lpstr>
      <vt:lpstr>Arial Black</vt:lpstr>
      <vt:lpstr>Courier New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Thaiza Harmonico</cp:lastModifiedBy>
  <cp:revision>2</cp:revision>
  <dcterms:created xsi:type="dcterms:W3CDTF">2026-08-04T14:08:18Z</dcterms:created>
  <dcterms:modified xsi:type="dcterms:W3CDTF">2026-08-04T14:20:32Z</dcterms:modified>
</cp:coreProperties>
</file>