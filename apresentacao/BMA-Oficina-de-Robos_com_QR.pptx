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70" r:id="rId21"/>
    <p:sldId id="262" r:id="rId8"/>
    <p:sldId id="271" r:id="rId22"/>
    <p:sldId id="263" r:id="rId9"/>
    <p:sldId id="264" r:id="rId10"/>
    <p:sldId id="265" r:id="rId11"/>
    <p:sldId id="266" r:id="rId12"/>
    <p:sldId id="267" r:id="rId13"/>
    <p:sldId id="268" r:id="rId14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7522"/>
    <a:srgbClr val="F877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13.xml"/><Relationship Id="rId13" Type="http://schemas.openxmlformats.org/officeDocument/2006/relationships/slide" Target="slides/slide14.xml"/><Relationship Id="rId14" Type="http://schemas.openxmlformats.org/officeDocument/2006/relationships/slide" Target="slides/slide15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16.xml"/><Relationship Id="rId21" Type="http://schemas.openxmlformats.org/officeDocument/2006/relationships/slide" Target="slides/slide7.xml"/><Relationship Id="rId22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Selic</c:v>
                </c:pt>
              </c:strCache>
            </c:strRef>
          </c:tx>
          <c:spPr>
            <a:ln w="38100" cap="flat">
              <a:solidFill>
                <a:srgbClr val="1D4E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4ED8"/>
              </a:solidFill>
              <a:ln w="9525" cap="flat">
                <a:solidFill>
                  <a:srgbClr val="1D4ED8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09/25</c:v>
                </c:pt>
                <c:pt idx="1">
                  <c:v>11/25</c:v>
                </c:pt>
                <c:pt idx="2">
                  <c:v>01/26</c:v>
                </c:pt>
                <c:pt idx="3">
                  <c:v>03/26</c:v>
                </c:pt>
                <c:pt idx="4">
                  <c:v>05/26</c:v>
                </c:pt>
                <c:pt idx="5">
                  <c:v>07/26</c:v>
                </c:pt>
                <c:pt idx="6">
                  <c:v>09/26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14.9</c:v>
                </c:pt>
                <c:pt idx="1">
                  <c:v>14.9</c:v>
                </c:pt>
                <c:pt idx="2">
                  <c:v>14.9</c:v>
                </c:pt>
                <c:pt idx="3">
                  <c:v>14.65</c:v>
                </c:pt>
                <c:pt idx="4">
                  <c:v>14.4</c:v>
                </c:pt>
                <c:pt idx="5">
                  <c:v>14.15</c:v>
                </c:pt>
                <c:pt idx="6">
                  <c:v>13.65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18-44CE-96A4-4089920F90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0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.0"/>
          <c:min val="13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60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59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2.png"/><Relationship Id="rId90" Type="http://schemas.openxmlformats.org/officeDocument/2006/relationships/image" Target="../media/painel_selic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822960" y="18745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kern="0" spc="-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OFICINA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822960" y="2788920"/>
            <a:ext cx="7315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600" kern="0" spc="-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 ROBÔS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868680" y="39319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2600" b="1" dirty="0">
                <a:solidFill>
                  <a:srgbClr val="F877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Automatize tarefas.
Ganhe tempo. Gere valor.</a:t>
            </a:r>
            <a:endParaRPr lang="en-US" sz="2600" dirty="0">
              <a:solidFill>
                <a:srgbClr val="F8772E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868680" y="5120640"/>
            <a:ext cx="2194560" cy="0"/>
          </a:xfrm>
          <a:prstGeom prst="line">
            <a:avLst/>
          </a:prstGeom>
          <a:noFill/>
          <a:ln w="381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68680" y="53492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30 minutos        ▶  Prática ao vivo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138160" y="1234440"/>
            <a:ext cx="3657600" cy="3657600"/>
          </a:xfrm>
          <a:prstGeom prst="ellipse">
            <a:avLst/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8686800" y="1783080"/>
            <a:ext cx="2560320" cy="2560320"/>
          </a:xfrm>
          <a:prstGeom prst="ellipse">
            <a:avLst/>
          </a:prstGeom>
          <a:solidFill>
            <a:srgbClr val="0B1D3A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9281160" y="2377440"/>
            <a:ext cx="1371600" cy="13716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9"/>
          <p:cNvSpPr/>
          <p:nvPr/>
        </p:nvSpPr>
        <p:spPr>
          <a:xfrm>
            <a:off x="7366299" y="685800"/>
            <a:ext cx="4663440" cy="4663440"/>
          </a:xfrm>
          <a:prstGeom prst="arc">
            <a:avLst>
              <a:gd name="adj1" fmla="val 18000000"/>
              <a:gd name="adj2" fmla="val 3600000"/>
            </a:avLst>
          </a:prstGeom>
          <a:noFill/>
          <a:ln w="63500">
            <a:solidFill>
              <a:srgbClr val="F28C2B"/>
            </a:solidFill>
            <a:prstDash val="solid"/>
          </a:ln>
        </p:spPr>
        <p:txBody>
          <a:bodyPr/>
          <a:lstStyle/>
          <a:p>
            <a:endParaRPr lang="pt-BR">
              <a:solidFill>
                <a:srgbClr val="F37522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8138160" y="5120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AUTOMAÇÃO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PROBLEMA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tempo gastamos fazendo tarefas repetitivas?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1005840" y="2971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informações em sites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56616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Copiar dados entre sistemas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411480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0584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Renomear arquivos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48640" y="466344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1005840" y="4617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Baixar documentos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521208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1005840" y="5166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Atualizar planilhas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548640" y="5760720"/>
            <a:ext cx="274320" cy="27432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005840" y="5715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e-mails repetitivos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863840" y="2148840"/>
            <a:ext cx="3291840" cy="731520"/>
          </a:xfrm>
          <a:prstGeom prst="rect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863840" y="21488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REPETIÇÃO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7863840" y="286207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863840" y="3108960"/>
            <a:ext cx="3291840" cy="731520"/>
          </a:xfrm>
          <a:prstGeom prst="rect">
            <a:avLst/>
          </a:prstGeom>
          <a:solidFill>
            <a:srgbClr val="1634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7863840" y="310896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TEMPO</a:t>
            </a:r>
            <a:endParaRPr lang="en-US" sz="1900" dirty="0"/>
          </a:p>
        </p:txBody>
      </p:sp>
      <p:sp>
        <p:nvSpPr>
          <p:cNvPr id="23" name="Text 20"/>
          <p:cNvSpPr/>
          <p:nvPr/>
        </p:nvSpPr>
        <p:spPr>
          <a:xfrm>
            <a:off x="7863840" y="382219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7863840" y="4069080"/>
            <a:ext cx="3291840" cy="731520"/>
          </a:xfrm>
          <a:prstGeom prst="rect">
            <a:avLst/>
          </a:prstGeom>
          <a:solidFill>
            <a:srgbClr val="1E4A7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863840" y="40690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CUSTO</a:t>
            </a:r>
            <a:endParaRPr lang="en-US" sz="1900" dirty="0"/>
          </a:p>
        </p:txBody>
      </p:sp>
      <p:sp>
        <p:nvSpPr>
          <p:cNvPr id="26" name="Text 23"/>
          <p:cNvSpPr/>
          <p:nvPr/>
        </p:nvSpPr>
        <p:spPr>
          <a:xfrm>
            <a:off x="7863840" y="47823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863840" y="5029200"/>
            <a:ext cx="3291840" cy="731520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7863840" y="5029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ERROS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QUE É UM ROBÔ?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8869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2200" dirty="0">
                <a:solidFill>
                  <a:srgbClr val="F877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 robô de software é um programa que executa no computador, de forma automática, as tarefas que faríamos manualmente</a:t>
            </a:r>
            <a:endParaRPr lang="en-US" sz="2200" dirty="0">
              <a:solidFill>
                <a:srgbClr val="F877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 sites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55848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55848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493008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Clicar em botões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8776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08776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45936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Preencher formulários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61704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9061704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98864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Baixar arquivos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02920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0080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planilhas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355848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355848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✉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493008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e-mails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08776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208776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 }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345936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Consumir APIs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061704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9061704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9198864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relatórios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SEGREDO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0058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ANTES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49440" y="2148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DEPOIS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05840" y="283464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45920" y="28346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1005840" y="361188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0058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45920" y="36118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005840" y="438912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10058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645920" y="43891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005840" y="5166360"/>
            <a:ext cx="457200" cy="4572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10058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164592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6949440" y="283464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694944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7589520" y="2834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Robô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6949440" y="361188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949440" y="3611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7589520" y="36118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</a:t>
            </a:r>
            <a:endParaRPr lang="en-US" sz="2000" dirty="0"/>
          </a:p>
        </p:txBody>
      </p:sp>
      <p:sp>
        <p:nvSpPr>
          <p:cNvPr id="25" name="Shape 22"/>
          <p:cNvSpPr/>
          <p:nvPr/>
        </p:nvSpPr>
        <p:spPr>
          <a:xfrm>
            <a:off x="6949440" y="438912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3"/>
          <p:cNvSpPr/>
          <p:nvPr/>
        </p:nvSpPr>
        <p:spPr>
          <a:xfrm>
            <a:off x="69494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27" name="Text 24"/>
          <p:cNvSpPr/>
          <p:nvPr/>
        </p:nvSpPr>
        <p:spPr>
          <a:xfrm>
            <a:off x="7589520" y="4389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Planilha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949440" y="516636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6"/>
          <p:cNvSpPr/>
          <p:nvPr/>
        </p:nvSpPr>
        <p:spPr>
          <a:xfrm>
            <a:off x="6949440" y="5166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7589520" y="51663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6949440" y="5943600"/>
            <a:ext cx="457200" cy="457200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29"/>
          <p:cNvSpPr/>
          <p:nvPr/>
        </p:nvSpPr>
        <p:spPr>
          <a:xfrm>
            <a:off x="6949440" y="5943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2000" dirty="0"/>
          </a:p>
        </p:txBody>
      </p:sp>
      <p:sp>
        <p:nvSpPr>
          <p:cNvPr id="33" name="Text 30"/>
          <p:cNvSpPr/>
          <p:nvPr/>
        </p:nvSpPr>
        <p:spPr>
          <a:xfrm>
            <a:off x="7589520" y="59436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 recebe o resultado</a:t>
            </a:r>
            <a:endParaRPr lang="en-US" sz="2000" dirty="0"/>
          </a:p>
        </p:txBody>
      </p:sp>
      <p:sp>
        <p:nvSpPr>
          <p:cNvPr id="34" name="Shape 31"/>
          <p:cNvSpPr/>
          <p:nvPr/>
        </p:nvSpPr>
        <p:spPr>
          <a:xfrm>
            <a:off x="5760720" y="3063240"/>
            <a:ext cx="914400" cy="0"/>
          </a:xfrm>
          <a:prstGeom prst="line">
            <a:avLst/>
          </a:prstGeom>
          <a:noFill/>
          <a:ln w="25400">
            <a:solidFill>
              <a:srgbClr val="0B1D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5" name="Shape 32"/>
          <p:cNvSpPr/>
          <p:nvPr/>
        </p:nvSpPr>
        <p:spPr>
          <a:xfrm>
            <a:off x="5760720" y="5943600"/>
            <a:ext cx="914400" cy="0"/>
          </a:xfrm>
          <a:prstGeom prst="line">
            <a:avLst/>
          </a:prstGeom>
          <a:noFill/>
          <a:ln w="25400">
            <a:solidFill>
              <a:srgbClr val="0B1D3A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6" name="Shape 33"/>
          <p:cNvSpPr/>
          <p:nvPr/>
        </p:nvSpPr>
        <p:spPr>
          <a:xfrm>
            <a:off x="5760720" y="3063240"/>
            <a:ext cx="0" cy="2880360"/>
          </a:xfrm>
          <a:prstGeom prst="line">
            <a:avLst/>
          </a:prstGeom>
          <a:noFill/>
          <a:ln w="25400">
            <a:solidFill>
              <a:srgbClr val="0B1D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HOJE VAMOS CONSTRUIR UM ROBÔ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14884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Desafio: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consultar automaticamente a </a:t>
            </a:r>
            <a:r>
              <a:rPr lang="en-US" sz="22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SELIC </a:t>
            </a: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utilizando a API oficial do Banco Central.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02920" y="30175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Fluxo: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8580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68580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API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1148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do BACEN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240280" y="4251960"/>
            <a:ext cx="822960" cy="0"/>
          </a:xfrm>
          <a:prstGeom prst="line">
            <a:avLst/>
          </a:prstGeom>
          <a:noFill/>
          <a:ln w="31750">
            <a:solidFill>
              <a:srgbClr val="F28C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33756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33756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06324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4892040" y="4251960"/>
            <a:ext cx="822960" cy="0"/>
          </a:xfrm>
          <a:prstGeom prst="line">
            <a:avLst/>
          </a:prstGeom>
          <a:noFill/>
          <a:ln w="31750">
            <a:solidFill>
              <a:srgbClr val="F28C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598932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598932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XLS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71500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7543800" y="4251960"/>
            <a:ext cx="822960" cy="0"/>
          </a:xfrm>
          <a:prstGeom prst="line">
            <a:avLst/>
          </a:prstGeom>
          <a:noFill/>
          <a:ln w="31750">
            <a:solidFill>
              <a:srgbClr val="F28C2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8641080" y="3566160"/>
            <a:ext cx="1371600" cy="1371600"/>
          </a:xfrm>
          <a:prstGeom prst="roundRect">
            <a:avLst>
              <a:gd name="adj" fmla="val 13333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8641080" y="39319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8366760" y="5029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502920" y="5897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 oficiais, públicos e </a:t>
            </a:r>
            <a:r>
              <a:rPr lang="en-US" sz="21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gratuitos.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PROMPT (IA GRATUITA)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" y="2103120"/>
            <a:ext cx="10789920" cy="3566160"/>
          </a:xfrm>
          <a:prstGeom prst="roundRect">
            <a:avLst>
              <a:gd name="adj" fmla="val 2564"/>
            </a:avLst>
          </a:prstGeom>
          <a:solidFill>
            <a:srgbClr val="EEF3FB"/>
          </a:solidFill>
          <a:ln w="1905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051560" y="2377440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"Crie um programa em Python que consulte a API pública do Banco Central (SGS) e obtenha a Selic, série 1178, no período escolhido (padrão: últimos 12 meses).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5156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programa deve: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794760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Tratar erros e usar dados de contingência se a internet falhar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234440" y="4233672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Mostrar um painel visual com gráficos e indicadores na tela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234440" y="4672584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Gerar Excel (Dados, Resumo e Mudanças), gráfico e relatório PDF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234440" y="5111496"/>
            <a:ext cx="9875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Registrar a execução em log e usar só bibliotecas gratuitas"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r>
              <a:rPr lang="en-US" sz="2100" b="1" dirty="0">
                <a:solidFill>
                  <a:srgbClr val="F375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gratuita </a:t>
            </a:r>
            <a:r>
              <a:rPr lang="en-US" sz="21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escreve o código para você.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As gratuitas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IAs GRATUITAS PARA USAR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pt-BR" sz="2200" dirty="0">
                <a:solidFill>
                  <a:srgbClr val="F877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 o mesmo prompt em qualquer uma e compare as respostas. Nunca insira dados de clientes, senhas ou informações internas.</a:t>
            </a:r>
            <a:endParaRPr lang="en-US" sz="2200" dirty="0">
              <a:solidFill>
                <a:srgbClr val="F8772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502920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502920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40080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· código e textos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chatgpt.com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355848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355848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493008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 análises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claude.ai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208776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0"/>
          <p:cNvSpPr/>
          <p:nvPr/>
        </p:nvSpPr>
        <p:spPr>
          <a:xfrm>
            <a:off x="6208776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45936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· Gmail e Drive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gemini.google.com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061704" y="320040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9061704" y="333756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Copilot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98864" y="393192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Windows e no Edge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copilot.microsoft.com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502920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40080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no VS Code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plano gratuito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355848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/>
          <p:nvPr/>
        </p:nvSpPr>
        <p:spPr>
          <a:xfrm>
            <a:off x="3355848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493008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com fontes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perplexity.ai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08776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6208776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NotebookLM</a:t>
            </a:r>
            <a:endParaRPr lang="en-US" sz="2600" dirty="0"/>
          </a:p>
        </p:txBody>
      </p:sp>
      <p:sp>
        <p:nvSpPr>
          <p:cNvPr id="26" name="Text 23"/>
          <p:cNvSpPr/>
          <p:nvPr/>
        </p:nvSpPr>
        <p:spPr>
          <a:xfrm>
            <a:off x="6345936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Estuda seus PDFs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notebooklm.google.com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9061704" y="4846320"/>
            <a:ext cx="2606040" cy="1463040"/>
          </a:xfrm>
          <a:prstGeom prst="roundRect">
            <a:avLst>
              <a:gd name="adj" fmla="val 7500"/>
            </a:avLst>
          </a:prstGeom>
          <a:solidFill>
            <a:srgbClr val="12294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5"/>
          <p:cNvSpPr/>
          <p:nvPr/>
        </p:nvSpPr>
        <p:spPr>
          <a:xfrm>
            <a:off x="9061704" y="4983480"/>
            <a:ext cx="2606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AI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9198864" y="557784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pt-BR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Dentro do WhatsApp</a:t>
            </a:r>
            <a:br>
              <a:rPr lang="pt-BR" sz="1300"/>
            </a:br>
            <a:r>
              <a:rPr lang="pt-BR" sz="1300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meta.ai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EXECUTANDO O ROBÔ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85800" y="2194560"/>
            <a:ext cx="6766560" cy="3749040"/>
          </a:xfrm>
          <a:prstGeom prst="roundRect">
            <a:avLst>
              <a:gd name="adj" fmla="val 1951"/>
            </a:avLst>
          </a:prstGeom>
          <a:solidFill>
            <a:srgbClr val="0F2247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960120" y="246888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RoboSelic.exe      (ou: python main.py)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60120" y="279806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1D5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Consultando a API do Banco Central (série 1178)...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12724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✔ Dados obtidos com sucesso: 251 registros.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45643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Período: 24/09/2025 a 23/09/2026 (12 meses)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78561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Último valor: 13,65% | Variação: -1,25 p.p.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60120" y="4114800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443984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Painel:  output\painel_selic.html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60120" y="4773168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Excel, gráfico e PDF na mesma pasta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960120" y="5102352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60120" y="5431536"/>
            <a:ext cx="6309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8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Processo concluído com sucesso. Abrindo o painel...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321040" y="2788920"/>
            <a:ext cx="2651760" cy="2651760"/>
          </a:xfrm>
          <a:prstGeom prst="ellipse">
            <a:avLst/>
          </a:prstGeom>
          <a:solidFill>
            <a:srgbClr val="0B1D3A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9189720" y="3200400"/>
            <a:ext cx="914400" cy="914400"/>
          </a:xfrm>
          <a:prstGeom prst="ellipse">
            <a:avLst/>
          </a:prstGeom>
          <a:solidFill>
            <a:srgbClr val="1D4ED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9189720" y="3200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✔</a:t>
            </a:r>
            <a:endParaRPr lang="en-US" sz="2600" dirty="0"/>
          </a:p>
        </p:txBody>
      </p:sp>
      <p:sp>
        <p:nvSpPr>
          <p:cNvPr id="19" name="Text 16"/>
          <p:cNvSpPr/>
          <p:nvPr/>
        </p:nvSpPr>
        <p:spPr>
          <a:xfrm>
            <a:off x="8321040" y="420624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Robô executado</a:t>
            </a:r>
            <a:endParaRPr lang="en-US" sz="16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sucesso!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inel na tel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PAINEL NA TELA</a:t>
            </a:r>
            <a:endParaRPr lang="en-US" sz="4000" dirty="0"/>
          </a:p>
        </p:txBody>
      </p:sp>
      <p:pic>
        <p:nvPicPr>
          <p:cNvPr id="40" name="Painel Selic" descr="Painel Selic: indicadores, gráfico da Selic em degraus e mudanças da taxa"/>
          <p:cNvPicPr>
            <a:picLocks noChangeAspect="1"/>
          </p:cNvPicPr>
          <p:nvPr/>
        </p:nvPicPr>
        <p:blipFill>
          <a:blip r:embed="rId90"/>
          <a:stretch>
            <a:fillRect/>
          </a:stretch>
        </p:blipFill>
        <p:spPr>
          <a:xfrm>
            <a:off x="502920" y="2011680"/>
            <a:ext cx="6949440" cy="4343400"/>
          </a:xfrm>
          <a:prstGeom prst="rect">
            <a:avLst/>
          </a:prstGeom>
          <a:ln w="9525">
            <a:solidFill>
              <a:srgbClr val="D1D5DB"/>
            </a:solidFill>
          </a:ln>
        </p:spPr>
      </p:pic>
      <p:sp>
        <p:nvSpPr>
          <p:cNvPr id="41" name="Destaques"/>
          <p:cNvSpPr txBox="1"/>
          <p:nvPr/>
        </p:nvSpPr>
        <p:spPr>
          <a:xfrm>
            <a:off x="7772400" y="2011680"/>
            <a:ext cx="3931920" cy="434340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0" indent="0"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Abre sozinho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pt-BR" sz="140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no navegador, ao final da execução</a:t>
            </a:r>
          </a:p>
          <a:p>
            <a:pPr marL="0" indent="0"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Filtros 1M a 12M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pt-BR" sz="140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e datas livres, recalculados na hora</a:t>
            </a:r>
          </a:p>
          <a:p>
            <a:pPr marL="0" indent="0"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Decisões do Copom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pt-BR" sz="140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marcadas no gráfico e na tabela</a:t>
            </a:r>
          </a:p>
          <a:p>
            <a:pPr marL="0" indent="0"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Funciona offline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pt-BR" sz="140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arquivo único, sem internet</a:t>
            </a:r>
          </a:p>
          <a:p>
            <a:pPr marL="0" indent="0"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Período configurável</a:t>
            </a:r>
          </a:p>
          <a:p>
            <a:pPr marL="0" indent="0">
              <a:spcAft>
                <a:spcPts val="1100"/>
              </a:spcAft>
              <a:buNone/>
            </a:pPr>
            <a:r>
              <a:rPr lang="pt-BR" sz="1400" dirty="0">
                <a:solidFill>
                  <a:srgbClr val="374151"/>
                </a:solidFill>
                <a:latin typeface="Arial" pitchFamily="34" charset="0"/>
                <a:cs typeface="Arial" pitchFamily="34" charset="-120"/>
              </a:rPr>
              <a:t>parametros.ini ou atalho "escolher período"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RESULTADO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85800" y="2103120"/>
            <a:ext cx="4572000" cy="411480"/>
          </a:xfrm>
          <a:prstGeom prst="rect">
            <a:avLst/>
          </a:prstGeom>
          <a:solidFill>
            <a:srgbClr val="E8ECF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SELIC – Últimos 12 meses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514600"/>
          <a:ext cx="45720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Selic (% a.a.)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23/09/2026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17/09/2026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06/08/2026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18/06/2026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30/04/2026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14,40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19/03/2026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24/09/2025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dirty="0">
                          <a:solidFill>
                            <a:srgbClr val="0B1D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14,90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852160" y="21031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da Selic (% a.a.)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Últimos 12 meses</a:t>
            </a:r>
            <a:endParaRPr lang="en-US" sz="16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5852160" y="2697480"/>
          <a:ext cx="56692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RESUMO EXECUTIVO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502920" y="2148840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502920" y="2148840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777240" y="21945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Primeiro valor (24/09/2025)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4688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14,90%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02920" y="2990088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02920" y="2990088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777240" y="303580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Último valor (23/09/2026)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3101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13,65%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02920" y="3831336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Shape 11"/>
          <p:cNvSpPr/>
          <p:nvPr/>
        </p:nvSpPr>
        <p:spPr>
          <a:xfrm>
            <a:off x="502920" y="3831336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777240" y="3877056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Variação no período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77240" y="41513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28C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-1,25 p.p. (-8,39%)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02920" y="4672584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Shape 15"/>
          <p:cNvSpPr/>
          <p:nvPr/>
        </p:nvSpPr>
        <p:spPr>
          <a:xfrm>
            <a:off x="502920" y="4672584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/>
          <p:nvPr/>
        </p:nvSpPr>
        <p:spPr>
          <a:xfrm>
            <a:off x="777240" y="4718304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valor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77240" y="49926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14,90%</a:t>
            </a:r>
            <a:endParaRPr lang="en-US" sz="1900" dirty="0"/>
          </a:p>
        </p:txBody>
      </p:sp>
      <p:sp>
        <p:nvSpPr>
          <p:cNvPr id="21" name="Shape 18"/>
          <p:cNvSpPr/>
          <p:nvPr/>
        </p:nvSpPr>
        <p:spPr>
          <a:xfrm>
            <a:off x="502920" y="5513832"/>
            <a:ext cx="6035040" cy="713232"/>
          </a:xfrm>
          <a:prstGeom prst="roundRect">
            <a:avLst>
              <a:gd name="adj" fmla="val 10256"/>
            </a:avLst>
          </a:prstGeom>
          <a:solidFill>
            <a:srgbClr val="12294F"/>
          </a:solidFill>
          <a:ln w="12700">
            <a:solidFill>
              <a:srgbClr val="1E3A6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502920" y="5513832"/>
            <a:ext cx="82296" cy="713232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777240" y="555955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Menor valor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777240" y="583387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13,65%</a:t>
            </a:r>
            <a:endParaRPr lang="en-US" sz="1900" dirty="0"/>
          </a:p>
        </p:txBody>
      </p:sp>
      <p:sp>
        <p:nvSpPr>
          <p:cNvPr id="25" name="Text 22"/>
          <p:cNvSpPr/>
          <p:nvPr/>
        </p:nvSpPr>
        <p:spPr>
          <a:xfrm>
            <a:off x="7040880" y="237744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9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Selic anualizada base 252 caiu 1,25 ponto percentual nos últimos 12 meses, em 5 cortes de 0,25 decididos pelo Copom, encerrando o período em 13,65%.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kern="0" spc="-5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MESMO CONCEITO SERVE PARA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155448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55448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9436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PTAX (Dólar)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4340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434340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338328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IPCA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13232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713232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17220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CDI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921240" y="21945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992124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8961120" y="28529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IGP-M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155448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155448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9436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 / Empresas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434340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8"/>
          <p:cNvSpPr/>
          <p:nvPr/>
        </p:nvSpPr>
        <p:spPr>
          <a:xfrm>
            <a:off x="434340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▦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338328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NF-e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713232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713232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✎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17220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Protestos</a:t>
            </a:r>
            <a:endParaRPr lang="en-US" sz="1700" dirty="0"/>
          </a:p>
        </p:txBody>
      </p:sp>
      <p:sp>
        <p:nvSpPr>
          <p:cNvPr id="26" name="Shape 23"/>
          <p:cNvSpPr/>
          <p:nvPr/>
        </p:nvSpPr>
        <p:spPr>
          <a:xfrm>
            <a:off x="9921240" y="35661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9921240" y="35661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8961120" y="42245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Serasa</a:t>
            </a:r>
            <a:endParaRPr lang="en-US" sz="1700" dirty="0"/>
          </a:p>
        </p:txBody>
      </p:sp>
      <p:sp>
        <p:nvSpPr>
          <p:cNvPr id="29" name="Shape 26"/>
          <p:cNvSpPr/>
          <p:nvPr/>
        </p:nvSpPr>
        <p:spPr>
          <a:xfrm>
            <a:off x="1554480" y="49377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7"/>
          <p:cNvSpPr/>
          <p:nvPr/>
        </p:nvSpPr>
        <p:spPr>
          <a:xfrm>
            <a:off x="155448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▤</a:t>
            </a:r>
            <a:endParaRPr lang="en-US" sz="2000" dirty="0"/>
          </a:p>
        </p:txBody>
      </p:sp>
      <p:sp>
        <p:nvSpPr>
          <p:cNvPr id="31" name="Text 28"/>
          <p:cNvSpPr/>
          <p:nvPr/>
        </p:nvSpPr>
        <p:spPr>
          <a:xfrm>
            <a:off x="59436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CNAB</a:t>
            </a:r>
            <a:endParaRPr lang="en-US" sz="1700" dirty="0"/>
          </a:p>
        </p:txBody>
      </p:sp>
      <p:sp>
        <p:nvSpPr>
          <p:cNvPr id="32" name="Shape 29"/>
          <p:cNvSpPr/>
          <p:nvPr/>
        </p:nvSpPr>
        <p:spPr>
          <a:xfrm>
            <a:off x="4343400" y="49377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0"/>
          <p:cNvSpPr/>
          <p:nvPr/>
        </p:nvSpPr>
        <p:spPr>
          <a:xfrm>
            <a:off x="434340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▥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338328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Relatórios</a:t>
            </a:r>
            <a:endParaRPr lang="en-US" sz="1700" dirty="0"/>
          </a:p>
        </p:txBody>
      </p:sp>
      <p:sp>
        <p:nvSpPr>
          <p:cNvPr id="35" name="Shape 32"/>
          <p:cNvSpPr/>
          <p:nvPr/>
        </p:nvSpPr>
        <p:spPr>
          <a:xfrm>
            <a:off x="7132320" y="4937760"/>
            <a:ext cx="566928" cy="566928"/>
          </a:xfrm>
          <a:prstGeom prst="ellipse">
            <a:avLst/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3"/>
          <p:cNvSpPr/>
          <p:nvPr/>
        </p:nvSpPr>
        <p:spPr>
          <a:xfrm>
            <a:off x="713232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◕</a:t>
            </a:r>
            <a:endParaRPr lang="en-US" sz="2000" dirty="0"/>
          </a:p>
        </p:txBody>
      </p:sp>
      <p:sp>
        <p:nvSpPr>
          <p:cNvPr id="37" name="Text 34"/>
          <p:cNvSpPr/>
          <p:nvPr/>
        </p:nvSpPr>
        <p:spPr>
          <a:xfrm>
            <a:off x="617220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</a:t>
            </a:r>
            <a:endParaRPr lang="en-US" sz="1700" dirty="0"/>
          </a:p>
        </p:txBody>
      </p:sp>
      <p:sp>
        <p:nvSpPr>
          <p:cNvPr id="38" name="Shape 35"/>
          <p:cNvSpPr/>
          <p:nvPr/>
        </p:nvSpPr>
        <p:spPr>
          <a:xfrm>
            <a:off x="9921240" y="4937760"/>
            <a:ext cx="566928" cy="566928"/>
          </a:xfrm>
          <a:prstGeom prst="ellipse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6"/>
          <p:cNvSpPr/>
          <p:nvPr/>
        </p:nvSpPr>
        <p:spPr>
          <a:xfrm>
            <a:off x="9921240" y="4937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2000" dirty="0"/>
          </a:p>
        </p:txBody>
      </p:sp>
      <p:sp>
        <p:nvSpPr>
          <p:cNvPr id="40" name="Text 37"/>
          <p:cNvSpPr/>
          <p:nvPr/>
        </p:nvSpPr>
        <p:spPr>
          <a:xfrm>
            <a:off x="8961120" y="559612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muito mais!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37160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DESAFIO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184648" y="2377440"/>
            <a:ext cx="1828800" cy="1828800"/>
          </a:xfrm>
          <a:prstGeom prst="ellipse">
            <a:avLst/>
          </a:prstGeom>
          <a:solidFill>
            <a:srgbClr val="12294F"/>
          </a:solidFill>
          <a:ln w="25400">
            <a:solidFill>
              <a:srgbClr val="F28C2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5184648" y="2514600"/>
            <a:ext cx="1828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Pense em uma tarefa que você</a:t>
            </a:r>
            <a:endParaRPr lang="en-US" sz="2600" dirty="0"/>
          </a:p>
          <a:p>
            <a:pPr marL="0" indent="0" algn="ctr">
              <a:lnSpc>
                <a:spcPts val="38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toda semana.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914400" y="56235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Ela provavelmente pode virar um robô!</a:t>
            </a:r>
            <a:endParaRPr lang="en-US" sz="2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6070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8A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0" y="146304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B1D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PRÓXIMA OFICINA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2377440" y="3017520"/>
            <a:ext cx="1828800" cy="1828800"/>
          </a:xfrm>
          <a:prstGeom prst="ellipse">
            <a:avLst/>
          </a:prstGeom>
          <a:solidFill>
            <a:srgbClr val="E8EC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2880360" y="352044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0B1D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2880360" y="3520440"/>
            <a:ext cx="822960" cy="201168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2880360" y="370332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754880" y="3154680"/>
            <a:ext cx="6675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robô escolhido pela equipe</a:t>
            </a:r>
            <a:endParaRPr lang="en-US" sz="26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2600" b="1" dirty="0">
                <a:solidFill>
                  <a:srgbClr val="0B1D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será construído juntos!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754880" y="4434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Participe, proponha e automatize!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834640"/>
            <a:ext cx="2194560" cy="1042416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749040" y="2514600"/>
            <a:ext cx="64008" cy="1828800"/>
          </a:xfrm>
          <a:prstGeom prst="rect">
            <a:avLst/>
          </a:prstGeom>
          <a:solidFill>
            <a:srgbClr val="F28C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4297680" y="2697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Automatizar é transformar </a:t>
            </a:r>
            <a:r>
              <a:rPr lang="en-US" sz="30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tempo </a:t>
            </a: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 </a:t>
            </a:r>
            <a:r>
              <a:rPr lang="en-US" sz="3000" dirty="0">
                <a:solidFill>
                  <a:srgbClr val="F28C2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valor.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297680" y="35204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Menos repetição. Mais estratégia. Mais impacto.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Leve o projeto"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Logo BMA" descr="Logo BMA FIDC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84048"/>
            <a:ext cx="1234440" cy="585216"/>
          </a:xfrm>
          <a:prstGeom prst="rect">
            <a:avLst/>
          </a:prstGeom>
        </p:spPr>
      </p:pic>
      <p:sp>
        <p:nvSpPr>
          <p:cNvPr id="3" name="Titulo"/>
          <p:cNvSpPr txBox="1"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noFill/>
        </p:spPr>
        <p:txBody>
          <a:bodyPr wrap="square" lIns="0" rIns="0" rtlCol="0" anchor="ctr">
            <a:normAutofit/>
          </a:bodyPr>
          <a:lstStyle/>
          <a:p>
            <a:pPr marL="0" indent="0" algn="l">
              <a:buNone/>
            </a:pPr>
            <a:r>
              <a:rPr lang="pt-BR" sz="4000" dirty="0">
                <a:solidFill>
                  <a:srgbClr val="FFFFFF"/>
                </a:solidFill>
                <a:latin typeface="Arial Black" pitchFamily="34" charset="0"/>
                <a:cs typeface="Arial Black" pitchFamily="34" charset="-120"/>
              </a:rPr>
              <a:t>LEVE O PROJETO COM VOCÊ</a:t>
            </a:r>
          </a:p>
        </p:txBody>
      </p:sp>
      <p:sp>
        <p:nvSpPr>
          <p:cNvPr id="4" name="Lista"/>
          <p:cNvSpPr txBox="1"/>
          <p:nvPr/>
        </p:nvSpPr>
        <p:spPr>
          <a:xfrm>
            <a:off x="502920" y="2286000"/>
            <a:ext cx="6583680" cy="347472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0" indent="0" algn="l">
              <a:spcAft>
                <a:spcPts val="1200"/>
              </a:spcAft>
              <a:buNone/>
            </a:pPr>
            <a:r>
              <a:rPr lang="pt-BR" sz="20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No repositório você encontra: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✓  </a:t>
            </a:r>
            <a:r>
              <a:rPr lang="pt-BR" sz="1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PowerPoint, apostila e guia executivo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✓  </a:t>
            </a:r>
            <a:r>
              <a:rPr lang="pt-BR" sz="1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Código Python e prompt completo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✓  </a:t>
            </a:r>
            <a:r>
              <a:rPr lang="pt-BR" sz="1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Instalador para Windows (sem Python)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✓  </a:t>
            </a:r>
            <a:r>
              <a:rPr lang="pt-BR" sz="1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Painel, Excel, gráfico e PDF de exemplo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pt-BR" sz="18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✓  </a:t>
            </a:r>
            <a:r>
              <a:rPr lang="pt-BR" sz="18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Roteiro e links úteis</a:t>
            </a:r>
          </a:p>
        </p:txBody>
      </p:sp>
      <p:pic>
        <p:nvPicPr>
          <p:cNvPr id="5" name="QR Code" descr="QR Code para github.com/thaiza-commits/oficina-de-robos-bm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2011680"/>
            <a:ext cx="3017520" cy="3017520"/>
          </a:xfrm>
          <a:prstGeom prst="rect">
            <a:avLst/>
          </a:prstGeom>
        </p:spPr>
      </p:pic>
      <p:sp>
        <p:nvSpPr>
          <p:cNvPr id="6" name="Legenda QR"/>
          <p:cNvSpPr txBox="1"/>
          <p:nvPr/>
        </p:nvSpPr>
        <p:spPr>
          <a:xfrm>
            <a:off x="7589520" y="5120640"/>
            <a:ext cx="4114800" cy="640080"/>
          </a:xfrm>
          <a:prstGeom prst="rect">
            <a:avLst/>
          </a:prstGeom>
          <a:noFill/>
        </p:spPr>
        <p:txBody>
          <a:bodyPr wrap="square" lIns="0" rIns="0" rtlCol="0" anchor="t">
            <a:normAutofit/>
          </a:bodyPr>
          <a:lstStyle/>
          <a:p>
            <a:pPr marL="0" indent="0" algn="ctr">
              <a:buNone/>
            </a:pPr>
            <a:r>
              <a:rPr lang="pt-BR" sz="1400" b="1" dirty="0">
                <a:solidFill>
                  <a:srgbClr val="F28C2B"/>
                </a:solidFill>
                <a:latin typeface="Arial" pitchFamily="34" charset="0"/>
                <a:cs typeface="Arial" pitchFamily="34" charset="-120"/>
              </a:rPr>
              <a:t>Aponte a câmera do celular</a:t>
            </a:r>
          </a:p>
          <a:p>
            <a:pPr marL="0" indent="0" algn="ctr">
              <a:buNone/>
            </a:pPr>
            <a:r>
              <a:rPr lang="pt-BR" sz="1200" dirty="0">
                <a:solidFill>
                  <a:srgbClr val="D1D5DB"/>
                </a:solidFill>
                <a:latin typeface="Arial" pitchFamily="34" charset="0"/>
                <a:cs typeface="Arial" pitchFamily="34" charset="-120"/>
              </a:rPr>
              <a:t>github.com/thaiza-commits/oficina-de-robos-bma</a:t>
            </a:r>
          </a:p>
        </p:txBody>
      </p:sp>
      <p:sp>
        <p:nvSpPr>
          <p:cNvPr id="7" name="Rodape"/>
          <p:cNvSpPr txBox="1"/>
          <p:nvPr/>
        </p:nvSpPr>
        <p:spPr>
          <a:xfrm>
            <a:off x="502920" y="6035040"/>
            <a:ext cx="11155680" cy="457200"/>
          </a:xfrm>
          <a:prstGeom prst="rect">
            <a:avLst/>
          </a:prstGeom>
          <a:noFill/>
        </p:spPr>
        <p:txBody>
          <a:bodyPr wrap="square" lIns="0" rIns="0" rtlCol="0" anchor="ctr">
            <a:normAutofit/>
          </a:bodyPr>
          <a:lstStyle/>
          <a:p>
            <a:pPr marL="0" indent="0" algn="ctr">
              <a:buNone/>
            </a:pPr>
            <a:r>
              <a:rPr lang="pt-B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Automatize tarefas. Ganhe tempo. Gere valor.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527</Words>
  <Application>Microsoft Office PowerPoint</Application>
  <PresentationFormat>Widescreen</PresentationFormat>
  <Paragraphs>184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Arial Black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Thaiza Harmonico</cp:lastModifiedBy>
  <cp:revision>2</cp:revision>
  <dcterms:created xsi:type="dcterms:W3CDTF">2026-08-04T14:08:18Z</dcterms:created>
  <dcterms:modified xsi:type="dcterms:W3CDTF">2026-08-04T14:20:32Z</dcterms:modified>
</cp:coreProperties>
</file>