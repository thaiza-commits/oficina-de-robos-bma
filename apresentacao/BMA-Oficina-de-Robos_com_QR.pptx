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21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7522"/>
    <a:srgbClr val="F877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67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5.xml"/><Relationship Id="rId21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Selic</c:v>
                </c:pt>
              </c:strCache>
            </c:strRef>
          </c:tx>
          <c:spPr>
            <a:ln w="38100" cap="flat">
              <a:solidFill>
                <a:srgbClr val="1D4ED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D4ED8"/>
              </a:solidFill>
              <a:ln w="9525" cap="flat">
                <a:solidFill>
                  <a:srgbClr val="1D4ED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12/08</c:v>
                </c:pt>
                <c:pt idx="1">
                  <c:v>20/08</c:v>
                </c:pt>
                <c:pt idx="2">
                  <c:v>28/08</c:v>
                </c:pt>
                <c:pt idx="3">
                  <c:v>08/09</c:v>
                </c:pt>
                <c:pt idx="4">
                  <c:v>16/09</c:v>
                </c:pt>
                <c:pt idx="5">
                  <c:v>23/09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13.9</c:v>
                </c:pt>
                <c:pt idx="1">
                  <c:v>13.9</c:v>
                </c:pt>
                <c:pt idx="2">
                  <c:v>13.9</c:v>
                </c:pt>
                <c:pt idx="3">
                  <c:v>13.9</c:v>
                </c:pt>
                <c:pt idx="4">
                  <c:v>13.9</c:v>
                </c:pt>
                <c:pt idx="5">
                  <c:v>13.65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018-44CE-96A4-4089920F90F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0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4.0"/>
          <c:min val="13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0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2599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822960" y="187452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kern="0" spc="-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OFICINA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822960" y="278892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kern="0" spc="-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 ROBÔS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868680" y="393192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F87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Automatize tarefas.
Ganhe tempo. Gere valor.</a:t>
            </a:r>
            <a:endParaRPr lang="en-US" sz="2600" dirty="0">
              <a:solidFill>
                <a:srgbClr val="F8772E"/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868680" y="5120640"/>
            <a:ext cx="219456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868680" y="5349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 30 minutos        ▶  Prática ao vivo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138160" y="1234440"/>
            <a:ext cx="3657600" cy="3657600"/>
          </a:xfrm>
          <a:prstGeom prst="ellipse">
            <a:avLst/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8686800" y="1783080"/>
            <a:ext cx="2560320" cy="2560320"/>
          </a:xfrm>
          <a:prstGeom prst="ellipse">
            <a:avLst/>
          </a:prstGeom>
          <a:solidFill>
            <a:srgbClr val="0B1D3A"/>
          </a:solidFill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9281160" y="2377440"/>
            <a:ext cx="1371600" cy="13716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9"/>
          <p:cNvSpPr/>
          <p:nvPr/>
        </p:nvSpPr>
        <p:spPr>
          <a:xfrm>
            <a:off x="7366299" y="685800"/>
            <a:ext cx="4663440" cy="4663440"/>
          </a:xfrm>
          <a:prstGeom prst="arc">
            <a:avLst>
              <a:gd name="adj1" fmla="val 18000000"/>
              <a:gd name="adj2" fmla="val 3600000"/>
            </a:avLst>
          </a:prstGeom>
          <a:noFill/>
          <a:ln w="63500">
            <a:solidFill>
              <a:srgbClr val="F28C2B"/>
            </a:solidFill>
            <a:prstDash val="solid"/>
          </a:ln>
        </p:spPr>
        <p:txBody>
          <a:bodyPr/>
          <a:lstStyle/>
          <a:p>
            <a:endParaRPr lang="pt-BR">
              <a:solidFill>
                <a:srgbClr val="F37522"/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8138160" y="5120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kern="0" spc="3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PROBLEMA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tempo gastamos fazendo tarefas repetitivas?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01752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1005840" y="2971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Consultar informações em sites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1005840" y="3520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Copiar dados entre sistemas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411480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005840" y="4069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Renomear arquivos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1005840" y="4617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Baixar documentos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521208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1005840" y="5166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planilhas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76072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1005840" y="5715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e-mails repetitivos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7863840" y="2148840"/>
            <a:ext cx="3291840" cy="731520"/>
          </a:xfrm>
          <a:prstGeom prst="rect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7863840" y="21488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REPETIÇÃO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7863840" y="286207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863840" y="3108960"/>
            <a:ext cx="3291840" cy="731520"/>
          </a:xfrm>
          <a:prstGeom prst="rect">
            <a:avLst/>
          </a:prstGeom>
          <a:solidFill>
            <a:srgbClr val="1634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7863840" y="310896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TEMPO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7863840" y="382219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863840" y="4069080"/>
            <a:ext cx="3291840" cy="731520"/>
          </a:xfrm>
          <a:prstGeom prst="rect">
            <a:avLst/>
          </a:prstGeom>
          <a:solidFill>
            <a:srgbClr val="1E4A7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7863840" y="40690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CUSTO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7863840" y="47823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863840" y="5029200"/>
            <a:ext cx="3291840" cy="73152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7863840" y="5029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ERROS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QUE É UM ROBÔ?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2200" dirty="0">
                <a:solidFill>
                  <a:srgbClr val="F8772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 robô é uma máquina programável capaz de executar tarefas no mundo físico de forma automática ou autônoma</a:t>
            </a:r>
            <a:endParaRPr lang="en-US" sz="2200" dirty="0">
              <a:solidFill>
                <a:srgbClr val="F8772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02920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502920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sites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55848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3355848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☰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493008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Clicar em botões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208776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08776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345936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Preencher formulários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061704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9061704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9198864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Baixar arquivos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02920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502920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planilhas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355848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3355848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3493008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e-mails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08776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208776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 }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45936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Consumir APIs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9061704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061704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9198864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Gerar relatórios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SEGREDO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1005840" y="2148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ANTES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949440" y="2148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DEPOIS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005840" y="283464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645920" y="28346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005840" y="361188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64592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1005840" y="438912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45920" y="4389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005840" y="516636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645920" y="5166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6949440" y="283464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69494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589520" y="28346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Robô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949440" y="361188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694944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7589520" y="3611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949440" y="438912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694944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7589520" y="43891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6949440" y="516636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694944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7589520" y="51663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6949440" y="594360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6949440" y="5943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589520" y="59436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recebe o resultado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760720" y="3063240"/>
            <a:ext cx="914400" cy="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/>
          <p:cNvSpPr/>
          <p:nvPr/>
        </p:nvSpPr>
        <p:spPr>
          <a:xfrm>
            <a:off x="5760720" y="5943600"/>
            <a:ext cx="914400" cy="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3"/>
          <p:cNvSpPr/>
          <p:nvPr/>
        </p:nvSpPr>
        <p:spPr>
          <a:xfrm>
            <a:off x="5760720" y="3063240"/>
            <a:ext cx="0" cy="288036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HOJE VAMOS CONSTRUIR UM ROBÔ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1488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Desafio: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consultar automaticamente a </a:t>
            </a:r>
            <a:r>
              <a:rPr lang="en-US" sz="22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SELIC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utilizando a API oficial do Banco Central.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3017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Fluxo: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68580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68580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1148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do BACEN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224028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333756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33756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06324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489204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2"/>
          <p:cNvSpPr/>
          <p:nvPr/>
        </p:nvSpPr>
        <p:spPr>
          <a:xfrm>
            <a:off x="598932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598932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XLS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571500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54380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6"/>
          <p:cNvSpPr/>
          <p:nvPr/>
        </p:nvSpPr>
        <p:spPr>
          <a:xfrm>
            <a:off x="864108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864108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▲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6676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502920" y="5897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oficiais, públicos e </a:t>
            </a:r>
            <a:r>
              <a:rPr lang="en-US" sz="21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gratuitos.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PROMPT (IA GRATUITA)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85800" y="2103120"/>
            <a:ext cx="10789920" cy="3566160"/>
          </a:xfrm>
          <a:prstGeom prst="roundRect">
            <a:avLst>
              <a:gd name="adj" fmla="val 2564"/>
            </a:avLst>
          </a:prstGeom>
          <a:solidFill>
            <a:srgbClr val="EEF3FB"/>
          </a:solidFill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051560" y="237744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"Crie um programa em Python que consulte a API pública do Banco Central do Brasil (SGS) e obtenha as últimas 30 observações da série 1178 (Selic anualizada base 252).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51560" y="3337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programa deve: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234440" y="3794760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Tratar erros e usar dados de contingência se a internet falhar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234440" y="4233672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Gerar Excel com as abas Dados e Resumo e um gráfico da Selic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234440" y="4672584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Criar um relatório PDF com os indicadores e abri-lo ao final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1234440" y="5111496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Registrar a execução em log e usar só bibliotecas gratuitas"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r>
              <a:rPr lang="en-US" sz="2100" b="1" dirty="0">
                <a:solidFill>
                  <a:srgbClr val="F37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gratuita </a:t>
            </a:r>
            <a:r>
              <a:rPr lang="en-US" sz="21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o código para você.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As gratuitas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IAs GRATUITAS PARA USAR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2200" dirty="0">
                <a:solidFill>
                  <a:srgbClr val="F8772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Cole o mesmo prompt em qualquer uma e compare as respostas. Nunca insira dados de clientes, senhas ou informações internas.</a:t>
            </a:r>
            <a:endParaRPr lang="en-US" sz="2200" dirty="0">
              <a:solidFill>
                <a:srgbClr val="F8772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02920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502920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código e textos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chatgpt.com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55848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3355848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493008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e análises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claude.ai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208776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08776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345936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· Gmail e Drive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gemini.google.com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061704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9061704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Copilot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9198864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Windows e no Edge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copilot.microsoft.com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02920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502920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no VS Code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plano gratuito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355848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3355848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3493008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Pesquisa com fontes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perplexity.ai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08776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208776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45936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Estuda seus PDFs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notebooklm.google.com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9061704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061704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AI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9198864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do WhatsApp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meta.ai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EXECUTANDO O ROBÔ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85800" y="2194560"/>
            <a:ext cx="6766560" cy="3749040"/>
          </a:xfrm>
          <a:prstGeom prst="roundRect">
            <a:avLst>
              <a:gd name="adj" fmla="val 1951"/>
            </a:avLst>
          </a:prstGeom>
          <a:solidFill>
            <a:srgbClr val="0F2247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960120" y="2468880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RoboSelic.exe      (ou: python main.py)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60120" y="2798064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Consultando a API do Banco Central (série 1178)...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60120" y="3127248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✔ Dados obtidos com sucesso: 30 registros.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60120" y="345643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Período: 12/08/2026 a 23/09/2026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60120" y="3785616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Último valor: 13,65% | Variação: -0,25 p.p.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60120" y="4114800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60120" y="4443984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Excel:   output\selic.xlsx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60120" y="4773168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Gráfico: output\selic.png  |  PDF: resumo_selic.pdf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60120" y="510235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960120" y="5431536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28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Processo concluído com sucesso.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321040" y="2788920"/>
            <a:ext cx="2651760" cy="2651760"/>
          </a:xfrm>
          <a:prstGeom prst="ellipse">
            <a:avLst/>
          </a:prstGeom>
          <a:solidFill>
            <a:srgbClr val="0B1D3A"/>
          </a:solidFill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4"/>
          <p:cNvSpPr/>
          <p:nvPr/>
        </p:nvSpPr>
        <p:spPr>
          <a:xfrm>
            <a:off x="9189720" y="3200400"/>
            <a:ext cx="914400" cy="9144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918972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8321040" y="42062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Robô executado</a:t>
            </a:r>
            <a:endParaRPr lang="en-US" sz="160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sucesso!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RESULTADO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85800" y="2103120"/>
            <a:ext cx="4572000" cy="411480"/>
          </a:xfrm>
          <a:prstGeom prst="rect">
            <a:avLst/>
          </a:prstGeom>
          <a:solidFill>
            <a:srgbClr val="E8ECF3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SELIC – Últimas 30 observações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514600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Selic (% a.a.)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12/08/2026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52160" y="210312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 da Selic (% a.a.)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Últimas 30 observações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852160" y="2697480"/>
          <a:ext cx="56692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RESUMO EXECUTIVO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02920" y="2148840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502920" y="2148840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777240" y="21945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valor (12/08/2026)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246888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13,90%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502920" y="2990088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02920" y="2990088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777240" y="303580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valor (23/09/2026)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77240" y="3310128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13,65%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02920" y="3831336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502920" y="3831336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777240" y="38770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Variação no período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77240" y="4151376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-0,25 p.p. (-1,80%)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02920" y="4672584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502920" y="4672584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777240" y="4718304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Maior valor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77240" y="4992624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13,90%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502920" y="5513832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19"/>
          <p:cNvSpPr/>
          <p:nvPr/>
        </p:nvSpPr>
        <p:spPr>
          <a:xfrm>
            <a:off x="502920" y="5513832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777240" y="5559552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Menor valor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77240" y="5833872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13,65%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7040880" y="237744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19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Selic anualizada base 252 apresentou queda de 0,25 ponto percentual nas últimas 30 observações, encerrando o período em 13,65%.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MESMO CONCEITO SERVE PARA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155448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55448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9436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PTAX (Dólar)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4340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434340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38328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13232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713232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17220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CDI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92124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992124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▥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6112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IGP-M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155448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155448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9436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 / Empresas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434340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434340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338328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NF-e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13232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713232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17220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Protestos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992124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992124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96112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55448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7"/>
          <p:cNvSpPr/>
          <p:nvPr/>
        </p:nvSpPr>
        <p:spPr>
          <a:xfrm>
            <a:off x="155448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59436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CNAB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434340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434340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▥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338328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Relatórios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713232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3"/>
          <p:cNvSpPr/>
          <p:nvPr/>
        </p:nvSpPr>
        <p:spPr>
          <a:xfrm>
            <a:off x="713232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◕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617220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Dashboards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9921240" y="4937760"/>
            <a:ext cx="566928" cy="566928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992124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sp>
        <p:nvSpPr>
          <p:cNvPr id="40" name="Text 37"/>
          <p:cNvSpPr/>
          <p:nvPr/>
        </p:nvSpPr>
        <p:spPr>
          <a:xfrm>
            <a:off x="896112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muito mais!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0" y="137160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DESAFIO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184648" y="2377440"/>
            <a:ext cx="1828800" cy="1828800"/>
          </a:xfrm>
          <a:prstGeom prst="ellipse">
            <a:avLst/>
          </a:prstGeom>
          <a:solidFill>
            <a:srgbClr val="12294F"/>
          </a:solidFill>
          <a:ln w="25400">
            <a:solidFill>
              <a:srgbClr val="F28C2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5184648" y="2514600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!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914400" y="46177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38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Pense em uma tarefa que você</a:t>
            </a:r>
            <a:endParaRPr lang="en-US" sz="2600" dirty="0"/>
          </a:p>
          <a:p>
            <a:pPr marL="0" indent="0" algn="ctr">
              <a:lnSpc>
                <a:spcPts val="38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toda semana.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914400" y="56235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Ela provavelmente pode virar um robô!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PRÓXIMA OFICINA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2377440" y="3017520"/>
            <a:ext cx="1828800" cy="1828800"/>
          </a:xfrm>
          <a:prstGeom prst="ellipse">
            <a:avLst/>
          </a:prstGeom>
          <a:solidFill>
            <a:srgbClr val="E8EC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2880360" y="35204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2880360" y="3520440"/>
            <a:ext cx="822960" cy="201168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2880360" y="370332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754880" y="3154680"/>
            <a:ext cx="6675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robô escolhido pela equipe</a:t>
            </a:r>
            <a:endParaRPr lang="en-US" sz="2600" dirty="0"/>
          </a:p>
          <a:p>
            <a:pPr marL="0" indent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será construído juntos!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4754880" y="4434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Participe, proponha e automatize!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834640"/>
            <a:ext cx="2194560" cy="10424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749040" y="2514600"/>
            <a:ext cx="64008" cy="182880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4297680" y="2697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Automatizar é transformar </a:t>
            </a:r>
            <a:r>
              <a:rPr lang="en-US" sz="3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tempo </a:t>
            </a: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 </a:t>
            </a:r>
            <a:r>
              <a:rPr lang="en-US" sz="3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valor.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297680" y="3520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repetição. Mais estratégia. Mais impacto.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 o projeto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Logo BMA" descr="Logo BMA FID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itulo"/>
          <p:cNvSpPr txBox="1"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marL="0" indent="0" algn="l">
              <a:buNone/>
            </a:pPr>
            <a:r>
              <a:rPr lang="pt-BR" sz="4000" dirty="0">
                <a:solidFill>
                  <a:srgbClr val="FFFFFF"/>
                </a:solidFill>
                <a:latin typeface="Arial Black" pitchFamily="34" charset="0"/>
                <a:cs typeface="Arial Black" pitchFamily="34" charset="-120"/>
              </a:rPr>
              <a:t>LEVE O PROJETO COM VOCÊ</a:t>
            </a:r>
          </a:p>
        </p:txBody>
      </p:sp>
      <p:sp>
        <p:nvSpPr>
          <p:cNvPr id="4" name="Lista"/>
          <p:cNvSpPr txBox="1"/>
          <p:nvPr/>
        </p:nvSpPr>
        <p:spPr>
          <a:xfrm>
            <a:off x="502920" y="2286000"/>
            <a:ext cx="6583680" cy="347472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spcAft>
                <a:spcPts val="1200"/>
              </a:spcAft>
              <a:buNone/>
            </a:pPr>
            <a:r>
              <a:rPr lang="pt-BR" sz="20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No repositório você encontra: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✓  </a:t>
            </a:r>
            <a:r>
              <a:rPr lang="pt-BR" sz="18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PowerPoint, apostila e guia executivo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✓  </a:t>
            </a:r>
            <a:r>
              <a:rPr lang="pt-BR" sz="18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Código Python e prompt completo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✓  </a:t>
            </a:r>
            <a:r>
              <a:rPr lang="pt-BR" sz="18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Instalador para Windows (sem Python)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✓  </a:t>
            </a:r>
            <a:r>
              <a:rPr lang="pt-BR" sz="18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Excel, gráfico e PDF de exemplo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✓  </a:t>
            </a:r>
            <a:r>
              <a:rPr lang="pt-BR" sz="18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Roteiro e links úteis</a:t>
            </a:r>
          </a:p>
        </p:txBody>
      </p:sp>
      <p:pic>
        <p:nvPicPr>
          <p:cNvPr id="5" name="QR Code" descr="QR Code para github.com/thaiza-commits/oficina-de-robos-bm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011680"/>
            <a:ext cx="3017520" cy="3017520"/>
          </a:xfrm>
          <a:prstGeom prst="rect">
            <a:avLst/>
          </a:prstGeom>
        </p:spPr>
      </p:pic>
      <p:sp>
        <p:nvSpPr>
          <p:cNvPr id="6" name="Legenda QR"/>
          <p:cNvSpPr txBox="1"/>
          <p:nvPr/>
        </p:nvSpPr>
        <p:spPr>
          <a:xfrm>
            <a:off x="7589520" y="5120640"/>
            <a:ext cx="4114800" cy="64008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ctr">
              <a:buNone/>
            </a:pPr>
            <a:r>
              <a:rPr lang="pt-BR" sz="14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Aponte a câmera do celular</a:t>
            </a:r>
          </a:p>
          <a:p>
            <a:pPr marL="0" indent="0" algn="ctr">
              <a:buNone/>
            </a:pPr>
            <a:r>
              <a:rPr lang="pt-BR" sz="1200" dirty="0">
                <a:solidFill>
                  <a:srgbClr val="D1D5DB"/>
                </a:solidFill>
                <a:latin typeface="Arial" pitchFamily="34" charset="0"/>
                <a:cs typeface="Arial" pitchFamily="34" charset="-120"/>
              </a:rPr>
              <a:t>github.com/thaiza-commits/oficina-de-robos-bma</a:t>
            </a:r>
          </a:p>
        </p:txBody>
      </p:sp>
      <p:sp>
        <p:nvSpPr>
          <p:cNvPr id="7" name="Rodape"/>
          <p:cNvSpPr txBox="1"/>
          <p:nvPr/>
        </p:nvSpPr>
        <p:spPr>
          <a:xfrm>
            <a:off x="502920" y="6035040"/>
            <a:ext cx="11155680" cy="4572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marL="0" indent="0" algn="ctr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Automatize tarefas. Ganhe tempo. Gere valor.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527</Words>
  <Application>Microsoft Office PowerPoint</Application>
  <PresentationFormat>Widescreen</PresentationFormat>
  <Paragraphs>184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Arial Black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Thaiza Harmonico</cp:lastModifiedBy>
  <cp:revision>2</cp:revision>
  <dcterms:created xsi:type="dcterms:W3CDTF">2026-08-04T14:08:18Z</dcterms:created>
  <dcterms:modified xsi:type="dcterms:W3CDTF">2026-08-04T14:20:32Z</dcterms:modified>
</cp:coreProperties>
</file>