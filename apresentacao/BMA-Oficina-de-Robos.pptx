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21"/>
    <p:sldId id="262" r:id="rId8"/>
    <p:sldId id="271" r:id="rId22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522"/>
    <a:srgbClr val="F87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67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1" Type="http://schemas.openxmlformats.org/officeDocument/2006/relationships/slide" Target="slides/slide7.xml"/><Relationship Id="rId22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Selic</c:v>
                </c:pt>
              </c:strCache>
            </c:strRef>
          </c:tx>
          <c:spPr>
            <a:ln w="38100" cap="flat">
              <a:solidFill>
                <a:srgbClr val="1D4E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D4ED8"/>
              </a:solidFill>
              <a:ln w="9525" cap="flat">
                <a:solidFill>
                  <a:srgbClr val="1D4ED8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09/25</c:v>
                </c:pt>
                <c:pt idx="1">
                  <c:v>11/25</c:v>
                </c:pt>
                <c:pt idx="2">
                  <c:v>01/26</c:v>
                </c:pt>
                <c:pt idx="3">
                  <c:v>03/26</c:v>
                </c:pt>
                <c:pt idx="4">
                  <c:v>05/26</c:v>
                </c:pt>
                <c:pt idx="5">
                  <c:v>07/26</c:v>
                </c:pt>
                <c:pt idx="6">
                  <c:v>09/26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14.9</c:v>
                </c:pt>
                <c:pt idx="1">
                  <c:v>14.9</c:v>
                </c:pt>
                <c:pt idx="2">
                  <c:v>14.9</c:v>
                </c:pt>
                <c:pt idx="3">
                  <c:v>14.65</c:v>
                </c:pt>
                <c:pt idx="4">
                  <c:v>14.4</c:v>
                </c:pt>
                <c:pt idx="5">
                  <c:v>14.15</c:v>
                </c:pt>
                <c:pt idx="6">
                  <c:v>13.65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018-44CE-96A4-4089920F90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.0"/>
          <c:min val="13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2599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90" Type="http://schemas.openxmlformats.org/officeDocument/2006/relationships/image" Target="../media/painel_selic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822960" y="18745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OFICINA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822960" y="27889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ROBÔS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868680" y="393192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87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Automatize tarefas.
Ganhe tempo. Gere valor.</a:t>
            </a:r>
            <a:endParaRPr lang="en-US" sz="2600" dirty="0">
              <a:solidFill>
                <a:srgbClr val="F8772E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868680" y="5120640"/>
            <a:ext cx="219456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868680" y="5349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 30 minutos        ▶  Prática ao vivo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138160" y="1234440"/>
            <a:ext cx="3657600" cy="3657600"/>
          </a:xfrm>
          <a:prstGeom prst="ellipse">
            <a:avLst/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8686800" y="1783080"/>
            <a:ext cx="2560320" cy="256032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9281160" y="2377440"/>
            <a:ext cx="1371600" cy="13716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9"/>
          <p:cNvSpPr/>
          <p:nvPr/>
        </p:nvSpPr>
        <p:spPr>
          <a:xfrm>
            <a:off x="7366299" y="685800"/>
            <a:ext cx="4663440" cy="4663440"/>
          </a:xfrm>
          <a:prstGeom prst="arc">
            <a:avLst>
              <a:gd name="adj1" fmla="val 18000000"/>
              <a:gd name="adj2" fmla="val 3600000"/>
            </a:avLst>
          </a:prstGeom>
          <a:noFill/>
          <a:ln w="635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>
              <a:solidFill>
                <a:srgbClr val="F37522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8138160" y="5120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3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PROBLEMA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tempo gastamos fazendo tarefas repetitivas?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0175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1005840" y="2971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informações em sites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1005840" y="3520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Copiar dados entre sistemas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411480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4069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Renomear arquivos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1005840" y="4617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documentos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521208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100584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planilhas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7607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715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 repetitivos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REPETIÇÃO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7863840" y="28620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solidFill>
            <a:srgbClr val="1634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7863840" y="38221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solidFill>
            <a:srgbClr val="1E4A7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7863840" y="47823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ERROS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É UM ROBÔ?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 robô de software é um programa que executa no computador, de forma automática, as tarefas que faríamos manualmente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sites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☰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botões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Preencher formulários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arquivos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planilhas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}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Consumir APIs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 relatórios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SEGREDO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0058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9494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DEPOIS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005840" y="283464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45920" y="2834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05840" y="361188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64592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1005840" y="438912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45920" y="4389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005840" y="516636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645920" y="5166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949440" y="283464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69494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589520" y="2834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949440" y="361188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9494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589520" y="3611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949440" y="438912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69494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89520" y="43891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6949440" y="516636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9494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7589520" y="51663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949440" y="594360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6949440" y="5943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589520" y="59436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recebe o resultado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760720" y="306324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5760720" y="594360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5760720" y="3063240"/>
            <a:ext cx="0" cy="288036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HOJE VAMOS CONSTRUIR UM ROBÔ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1488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Desafio: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automaticamente a </a:t>
            </a: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utilizando a API oficial do Banco Central.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Fluxo: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8580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8580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1148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 BACEN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24028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333756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33756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06324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489204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2"/>
          <p:cNvSpPr/>
          <p:nvPr/>
        </p:nvSpPr>
        <p:spPr>
          <a:xfrm>
            <a:off x="598932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98932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XLS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571500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54380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864108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864108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6676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502920" y="5897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oficiais, públicos e </a:t>
            </a:r>
            <a:r>
              <a:rPr lang="en-US" sz="21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gratuitos.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PROMPT (IA GRATUITA)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03120"/>
            <a:ext cx="10789920" cy="3566160"/>
          </a:xfrm>
          <a:prstGeom prst="roundRect">
            <a:avLst>
              <a:gd name="adj" fmla="val 2564"/>
            </a:avLst>
          </a:prstGeom>
          <a:solidFill>
            <a:srgbClr val="EEF3FB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051560" y="23774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"Crie um programa em Python que consulte a API SGS do Banco Central (série 1178, Selic) com dataInicial e dataFinal, no período escolhido (padrão: últimos 12 meses).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51560" y="3337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programa deve: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34440" y="3794760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 a internet falhar, usar a última consulta salva e avisar em destaque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234440" y="4233672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Abrir um painel HTML offline com indicadores, gráfico e filtros 1M/3M/12M funcionais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234440" y="4672584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Gerar Excel (Dados, Resumo, Mudanças), gráfico e PDF em #1B172D/#F37522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234440" y="5111496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Ler o período de um parametros.ini, registrar log e usar só bibliotecas gratuitas"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Resumo. Para o </a:t>
            </a:r>
            <a:r>
              <a:rPr lang="en-US" sz="2100" b="1" dirty="0">
                <a:solidFill>
                  <a:srgbClr val="F37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resultado</a:t>
            </a: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demo, use o prompt completo do QR Code.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As gratuitas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IAs GRATUITAS PARA USAR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Cole o mesmo prompt em qualquer uma e compare as respostas. Nunca insira dados de clientes, senhas ou informações internas.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código e textos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chatgpt.com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e análises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claude.ai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· Gmail e Drive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gemini.google.com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Copilot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Windows e no Edge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copilot.microsoft.com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no VS Code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plano gratuito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com fontes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perplexity.ai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Estuda seus PDFs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notebooklm.google.com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AI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do WhatsApp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meta.ai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EXECUTANDO O ROBÔ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94560"/>
            <a:ext cx="6766560" cy="3749040"/>
          </a:xfrm>
          <a:prstGeom prst="roundRect">
            <a:avLst>
              <a:gd name="adj" fmla="val 1951"/>
            </a:avLst>
          </a:prstGeom>
          <a:solidFill>
            <a:srgbClr val="0F2247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960120" y="246888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RoboSelic.exe      (ou: python main.py)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60120" y="279806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Consultando a API do Banco Central (série 1178)...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60120" y="312724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✔ Dados obtidos com sucesso: 251 registros.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45643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Período: 24/09/2025 a 23/09/2026 (12 meses)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78561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Último valor: 13,65% | Variação: -1,25 p.p.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411480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60120" y="444398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Painel:  output\painel_selic.html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60120" y="477316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Excel, gráfico e PDF na mesma pasta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60120" y="510235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60120" y="543153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28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Processo concluído com sucesso. Abrindo o painel...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321040" y="2788920"/>
            <a:ext cx="2651760" cy="265176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9189720" y="3200400"/>
            <a:ext cx="914400" cy="9144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8972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1040" y="42062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 executado</a:t>
            </a:r>
            <a:endParaRPr lang="en-US" sz="16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sucesso!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inel na tel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PAINEL NA TELA</a:t>
            </a:r>
            <a:endParaRPr lang="en-US" sz="4000" dirty="0"/>
          </a:p>
        </p:txBody>
      </p:sp>
      <p:pic>
        <p:nvPicPr>
          <p:cNvPr id="40" name="Painel Selic" descr="Painel Selic: indicadores, gráfico da Selic em degraus e mudanças da taxa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502920" y="2011680"/>
            <a:ext cx="6949440" cy="434340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41" name="Destaques"/>
          <p:cNvSpPr txBox="1"/>
          <p:nvPr/>
        </p:nvSpPr>
        <p:spPr>
          <a:xfrm>
            <a:off x="7772400" y="2011680"/>
            <a:ext cx="3931920" cy="43434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Abre sozinho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no navegador, ao final da execução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Filtros 1M a 12M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e datas livres, recalculados na hora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Decisões do Copom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marcadas no gráfico e na tabela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Funciona offline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arquivo único, sem internet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Período configurável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parametros.ini ou atalho "escolher período"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RESULTADO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85800" y="2103120"/>
            <a:ext cx="4572000" cy="411480"/>
          </a:xfrm>
          <a:prstGeom prst="rect">
            <a:avLst/>
          </a:prstGeom>
          <a:solidFill>
            <a:srgbClr val="E8ECF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– Últimos 12 meses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Selic (% a.a.)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06/08/2026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18/06/2026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30/04/2026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19/03/2026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24/09/2025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52160" y="21031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da Selic (% a.a.)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Últimos 12 meses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852160" y="269748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RESUMO EXECUTIVO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02920" y="2148840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777240" y="21945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valor (24/09/2025)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4688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14,90%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02920" y="2990088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02920" y="2990088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777240" y="303580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valor (23/09/2026)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" y="3310128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02920" y="3831336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02920" y="3831336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777240" y="38770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Variação no período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77240" y="4151376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-1,25 p.p. (-8,39%)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02920" y="4672584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502920" y="4672584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77240" y="471830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Maior valor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7240" y="4992624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14,90%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502920" y="5513832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502920" y="5513832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777240" y="555955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valor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77240" y="583387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040880" y="23774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Selic anualizada base 252 caiu 1,25 ponto percentual nos últimos 12 meses, em 5 cortes de 0,25 decididos pelo Copom, encerrando o período em 13,65%.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MESMO CONCEITO SERVE PARA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155448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55448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9436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PTAX (Dólar)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4340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434340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38328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13232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13232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17220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92124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992124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6112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IGP-M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155448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155448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436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/ Empresas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434340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34340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38328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NF-e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13232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713232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17220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Protestos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992124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992124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96112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55448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7"/>
          <p:cNvSpPr/>
          <p:nvPr/>
        </p:nvSpPr>
        <p:spPr>
          <a:xfrm>
            <a:off x="155448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59436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CNAB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434340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34340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338328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713232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713232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◕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617220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Dashboards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9921240" y="4937760"/>
            <a:ext cx="566928" cy="566928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92124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896112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muito mais!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37160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DESAFIO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184648" y="2377440"/>
            <a:ext cx="1828800" cy="1828800"/>
          </a:xfrm>
          <a:prstGeom prst="ellipse">
            <a:avLst/>
          </a:prstGeom>
          <a:solidFill>
            <a:srgbClr val="12294F"/>
          </a:solidFill>
          <a:ln w="254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5184648" y="251460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914400" y="46177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Pense em uma tarefa que você</a:t>
            </a:r>
            <a:endParaRPr lang="en-US" sz="2600" dirty="0"/>
          </a:p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toda semana.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914400" y="56235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 provavelmente pode virar um robô!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PRÓXIMA OFICINA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2377440" y="3017520"/>
            <a:ext cx="1828800" cy="1828800"/>
          </a:xfrm>
          <a:prstGeom prst="ellipse">
            <a:avLst/>
          </a:prstGeom>
          <a:solidFill>
            <a:srgbClr val="E8EC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2880360" y="35204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2880360" y="3520440"/>
            <a:ext cx="822960" cy="201168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2880360" y="370332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754880" y="31546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robô escolhido pela equipe</a:t>
            </a:r>
            <a:endParaRPr lang="en-US" sz="26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será construído juntos!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475488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Participe, proponha e automatize!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34640"/>
            <a:ext cx="2194560" cy="10424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749040" y="2514600"/>
            <a:ext cx="64008" cy="18288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4297680" y="2697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Automatizar é transformar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 </a:t>
            </a: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valor.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297680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repetição. Mais estratégia. Mais impacto.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527</Words>
  <Application>Microsoft Office PowerPoint</Application>
  <PresentationFormat>Widescreen</PresentationFormat>
  <Paragraphs>184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Thaiza Harmonico</cp:lastModifiedBy>
  <cp:revision>2</cp:revision>
  <dcterms:created xsi:type="dcterms:W3CDTF">2026-08-04T14:08:18Z</dcterms:created>
  <dcterms:modified xsi:type="dcterms:W3CDTF">2026-08-04T14:20:32Z</dcterms:modified>
</cp:coreProperties>
</file>