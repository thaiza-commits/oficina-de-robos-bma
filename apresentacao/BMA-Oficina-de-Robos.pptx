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7522"/>
    <a:srgbClr val="F87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21/05</c:v>
                </c:pt>
                <c:pt idx="1">
                  <c:v>27/05</c:v>
                </c:pt>
                <c:pt idx="2">
                  <c:v>02/06</c:v>
                </c:pt>
                <c:pt idx="3">
                  <c:v>06/06</c:v>
                </c:pt>
                <c:pt idx="4">
                  <c:v>12/06</c:v>
                </c:pt>
                <c:pt idx="5">
                  <c:v>18/06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14.5</c:v>
                </c:pt>
                <c:pt idx="1">
                  <c:v>14.5</c:v>
                </c:pt>
                <c:pt idx="2">
                  <c:v>14.55</c:v>
                </c:pt>
                <c:pt idx="3">
                  <c:v>14.75</c:v>
                </c:pt>
                <c:pt idx="4">
                  <c:v>14.75</c:v>
                </c:pt>
                <c:pt idx="5">
                  <c:v>14.75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18-44CE-96A4-4089920F90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1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59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22960" y="18745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kern="0" spc="-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OFICINA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822960" y="27889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kern="0" spc="-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ROBÔS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868680" y="3931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Automatize tarefas.
Ganhe tempo. Gere valor.</a:t>
            </a:r>
            <a:endParaRPr lang="en-US" sz="2600" dirty="0">
              <a:solidFill>
                <a:srgbClr val="F8772E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868680" y="5120640"/>
            <a:ext cx="219456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5349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30 minutos        ▶  Prática ao vivo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138160" y="1234440"/>
            <a:ext cx="3657600" cy="3657600"/>
          </a:xfrm>
          <a:prstGeom prst="ellipse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686800" y="1783080"/>
            <a:ext cx="2560320" cy="2560320"/>
          </a:xfrm>
          <a:prstGeom prst="ellipse">
            <a:avLst/>
          </a:prstGeom>
          <a:solidFill>
            <a:srgbClr val="0B1D3A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9281160" y="2377440"/>
            <a:ext cx="1371600" cy="13716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366299" y="685800"/>
            <a:ext cx="4663440" cy="4663440"/>
          </a:xfrm>
          <a:prstGeom prst="arc">
            <a:avLst>
              <a:gd name="adj1" fmla="val 18000000"/>
              <a:gd name="adj2" fmla="val 3600000"/>
            </a:avLst>
          </a:prstGeom>
          <a:noFill/>
          <a:ln w="63500">
            <a:solidFill>
              <a:srgbClr val="F28C2B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F37522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813816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tempo gastamos fazendo tarefas repetitivas?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0058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informações em sites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dados entre sistemas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0584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Renomear arquivos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0058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Baixar documentos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521208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005840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planilhas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76072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005840" y="5715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e-mails repetitivos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863840" y="2148840"/>
            <a:ext cx="3291840" cy="73152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86384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REPETIÇÃO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863840" y="2862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863840" y="3108960"/>
            <a:ext cx="3291840" cy="731520"/>
          </a:xfrm>
          <a:prstGeom prst="rect">
            <a:avLst/>
          </a:prstGeom>
          <a:solidFill>
            <a:srgbClr val="1634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7863840" y="31089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TEMPO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863840" y="38221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863840" y="4069080"/>
            <a:ext cx="3291840" cy="731520"/>
          </a:xfrm>
          <a:prstGeom prst="rect">
            <a:avLst/>
          </a:prstGeom>
          <a:solidFill>
            <a:srgbClr val="1E4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863840" y="4069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863840" y="4782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863840" y="5029200"/>
            <a:ext cx="3291840" cy="731520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7863840" y="5029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UM ROBÔ?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2200" dirty="0">
                <a:solidFill>
                  <a:srgbClr val="F877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robô é uma máquina programável capaz de executar tarefas no mundo físico de forma automática ou autônoma</a:t>
            </a:r>
            <a:endParaRPr lang="en-US" sz="2200" dirty="0">
              <a:solidFill>
                <a:srgbClr val="F877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0292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sites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55848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355848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493008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em botões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8776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08776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345936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formulários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61704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9061704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198864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Baixar arquivos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02920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40080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planilhas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355848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355848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493008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e-mails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08776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208776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345936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Consumir APIs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061704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9061704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9198864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relatórios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SEGREDO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058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94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DEPOIS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05840" y="283464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05840" y="36118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058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4592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05840" y="438912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0058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4592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005840" y="51663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0058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64592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949440" y="283464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9494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58952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Robô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949440" y="361188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9494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58952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949440" y="438912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9494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58952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949440" y="516636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69494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589520" y="5166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6949440" y="594360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694944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589520" y="5943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recebe o resultado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760720" y="3063240"/>
            <a:ext cx="914400" cy="0"/>
          </a:xfrm>
          <a:prstGeom prst="line">
            <a:avLst/>
          </a:prstGeom>
          <a:noFill/>
          <a:ln w="25400">
            <a:solidFill>
              <a:srgbClr val="0B1D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5760720" y="5943600"/>
            <a:ext cx="914400" cy="0"/>
          </a:xfrm>
          <a:prstGeom prst="line">
            <a:avLst/>
          </a:prstGeom>
          <a:noFill/>
          <a:ln w="25400">
            <a:solidFill>
              <a:srgbClr val="0B1D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5760720" y="3063240"/>
            <a:ext cx="0" cy="2880360"/>
          </a:xfrm>
          <a:prstGeom prst="line">
            <a:avLst/>
          </a:prstGeom>
          <a:noFill/>
          <a:ln w="254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HOJE VAMOS CONSTRUIR UM ROBÔ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148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Desafio: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automaticamente a </a:t>
            </a:r>
            <a:r>
              <a:rPr lang="en-US" sz="22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SELIC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utilizando a API oficial do Banco Central.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Fluxo: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8580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 BACEN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240280" y="4251960"/>
            <a:ext cx="822960" cy="0"/>
          </a:xfrm>
          <a:prstGeom prst="line">
            <a:avLst/>
          </a:prstGeom>
          <a:noFill/>
          <a:ln w="31750">
            <a:solidFill>
              <a:srgbClr val="F28C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33756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33756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06324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892040" y="4251960"/>
            <a:ext cx="822960" cy="0"/>
          </a:xfrm>
          <a:prstGeom prst="line">
            <a:avLst/>
          </a:prstGeom>
          <a:noFill/>
          <a:ln w="31750">
            <a:solidFill>
              <a:srgbClr val="F28C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98932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98932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71500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543800" y="4251960"/>
            <a:ext cx="822960" cy="0"/>
          </a:xfrm>
          <a:prstGeom prst="line">
            <a:avLst/>
          </a:prstGeom>
          <a:noFill/>
          <a:ln w="31750">
            <a:solidFill>
              <a:srgbClr val="F28C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864108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64108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▲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6676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02920" y="5897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oficiais, públicos e </a:t>
            </a:r>
            <a:r>
              <a:rPr lang="en-US" sz="21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gratuitos.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PROMPT (IA GRATUITA)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" y="2103120"/>
            <a:ext cx="10789920" cy="3566160"/>
          </a:xfrm>
          <a:prstGeom prst="roundRect">
            <a:avLst>
              <a:gd name="adj" fmla="val 2564"/>
            </a:avLst>
          </a:prstGeom>
          <a:solidFill>
            <a:srgbClr val="EEF3FB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051560" y="23774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"Crie um script em Python que consulte a API pública do Banco Central do Brasil (SGS) e obtenha a série 1178 (Selic anualizada base 252) dos últimos 30 dias.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5156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deve: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379476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Tratar erros de conexão e ausência de dados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234440" y="423367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Gerar uma planilha Excel com os dados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234440" y="467258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Criar um gráfico da evolução da Selic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234440" y="511149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Mostrar um resumo executivo da variação no período"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100" b="1" dirty="0">
                <a:solidFill>
                  <a:srgbClr val="F37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gratuita </a:t>
            </a:r>
            <a:r>
              <a:rPr lang="en-US" sz="2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o código para você.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EXECUTANDO O ROBÔ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" y="219456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0F2247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960120" y="246888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robo_selic.py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79806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Consultando Banco Central...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12724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Dados obtidos com sucesso!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45643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Período: 21/05/2026 a 19/06/2026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78561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Registros: 30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411480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44398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 gerado: SELIC_Ultimos_30_dias.xlsx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477316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Gráfico: selic_30_dias.png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510235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543153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 executivo exibido abaixo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321040" y="2788920"/>
            <a:ext cx="2651760" cy="2651760"/>
          </a:xfrm>
          <a:prstGeom prst="ellipse">
            <a:avLst/>
          </a:prstGeom>
          <a:solidFill>
            <a:srgbClr val="0B1D3A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9189720" y="3200400"/>
            <a:ext cx="914400" cy="9144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918972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21040" y="4206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Robô executado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sucesso!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103120"/>
            <a:ext cx="4572000" cy="411480"/>
          </a:xfrm>
          <a:prstGeom prst="rect">
            <a:avLst/>
          </a:prstGeom>
          <a:solidFill>
            <a:srgbClr val="E8ECF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SELIC – Últimos 30 dias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Selic (% a.a.)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19/06/2026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18/06/2026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17/06/2026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16/06/2026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13/06/2026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12/06/2026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21/05/2026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52160" y="21031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 Selic (% a.a.)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Últimos 30 dias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852160" y="269748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 EXECUTIVO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02920" y="214884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valor (21/05/2026)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14,50%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02920" y="2990088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02920" y="2990088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valor (19/06/2026)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3101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14,75%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2920" y="3831336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02920" y="3831336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77240" y="38770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no período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15137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+0,25 p.p. (+1,72%)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02920" y="4672584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02920" y="4672584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77240" y="47183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valor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499262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14,75%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502920" y="5513832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02920" y="5513832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77240" y="55595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valor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7240" y="58338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14,50%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040880" y="23774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Selic anualizada base 252 apresentou alta de 0,25 ponto percentual nos últimos 30 dias, encerrando o período em 14,75%.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MESMO CONCEITO SERVE PARA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55448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55448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PTAX (Dólar)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4340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3434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38328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13232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13232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7220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92124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992124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96112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IGP-M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55448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55448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436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 / Empresas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34340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34340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38328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13232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713232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17220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Protestos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92124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992124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96112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554480" y="49377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155448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436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CNAB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4343400" y="49377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34340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38328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7132320" y="49377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713232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◕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17220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9921240" y="4937760"/>
            <a:ext cx="566928" cy="566928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992124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896112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muito mais!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3716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DESAFIO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184648" y="2377440"/>
            <a:ext cx="1828800" cy="1828800"/>
          </a:xfrm>
          <a:prstGeom prst="ellipse">
            <a:avLst/>
          </a:prstGeom>
          <a:solidFill>
            <a:srgbClr val="12294F"/>
          </a:solidFill>
          <a:ln w="25400">
            <a:solidFill>
              <a:srgbClr val="F28C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184648" y="25146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em uma tarefa que você</a:t>
            </a:r>
            <a:endParaRPr lang="en-US" sz="2600" dirty="0"/>
          </a:p>
          <a:p>
            <a:pPr marL="0" indent="0" algn="ctr">
              <a:lnSpc>
                <a:spcPts val="38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toda semana.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 provavelmente pode virar um robô!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4630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PRÓXIMA OFICINA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2377440" y="3017520"/>
            <a:ext cx="1828800" cy="1828800"/>
          </a:xfrm>
          <a:prstGeom prst="ellipse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880360" y="35204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880360" y="3520440"/>
            <a:ext cx="822960" cy="201168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880360" y="37033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54880" y="31546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robô escolhido pela equipe</a:t>
            </a:r>
            <a:endParaRPr lang="en-US" sz="26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será construído juntos!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754880" y="4434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Participe, proponha e automatize!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34640"/>
            <a:ext cx="2194560" cy="10424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9040" y="2514600"/>
            <a:ext cx="64008" cy="1828800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97680" y="2697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Automatizar é transformar </a:t>
            </a:r>
            <a:r>
              <a:rPr lang="en-US" sz="30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tempo </a:t>
            </a: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 </a:t>
            </a:r>
            <a:r>
              <a:rPr lang="en-US" sz="30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297680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repetição. Mais estratégia. Mais impacto.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527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Thaiza Harmonico</cp:lastModifiedBy>
  <cp:revision>2</cp:revision>
  <dcterms:created xsi:type="dcterms:W3CDTF">2026-08-04T14:08:18Z</dcterms:created>
  <dcterms:modified xsi:type="dcterms:W3CDTF">2026-08-04T14:20:32Z</dcterms:modified>
</cp:coreProperties>
</file>